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38"/>
  </p:notesMasterIdLst>
  <p:sldIdLst>
    <p:sldId id="310" r:id="rId6"/>
    <p:sldId id="379" r:id="rId7"/>
    <p:sldId id="380" r:id="rId8"/>
    <p:sldId id="314" r:id="rId9"/>
    <p:sldId id="315" r:id="rId10"/>
    <p:sldId id="322" r:id="rId11"/>
    <p:sldId id="323" r:id="rId12"/>
    <p:sldId id="329" r:id="rId13"/>
    <p:sldId id="316" r:id="rId14"/>
    <p:sldId id="346" r:id="rId15"/>
    <p:sldId id="324" r:id="rId16"/>
    <p:sldId id="325" r:id="rId17"/>
    <p:sldId id="348" r:id="rId18"/>
    <p:sldId id="332" r:id="rId19"/>
    <p:sldId id="333" r:id="rId20"/>
    <p:sldId id="350" r:id="rId21"/>
    <p:sldId id="354" r:id="rId22"/>
    <p:sldId id="355" r:id="rId23"/>
    <p:sldId id="353" r:id="rId24"/>
    <p:sldId id="352" r:id="rId25"/>
    <p:sldId id="422" r:id="rId26"/>
    <p:sldId id="421" r:id="rId27"/>
    <p:sldId id="423" r:id="rId28"/>
    <p:sldId id="341" r:id="rId29"/>
    <p:sldId id="342" r:id="rId30"/>
    <p:sldId id="360" r:id="rId31"/>
    <p:sldId id="361" r:id="rId32"/>
    <p:sldId id="343" r:id="rId33"/>
    <p:sldId id="344" r:id="rId34"/>
    <p:sldId id="345" r:id="rId35"/>
    <p:sldId id="362" r:id="rId36"/>
    <p:sldId id="424" r:id="rId37"/>
  </p:sldIdLst>
  <p:sldSz cx="9144000" cy="6858000" type="screen4x3"/>
  <p:notesSz cx="7556500" cy="10699750"/>
  <p:custDataLst>
    <p:tags r:id="rId39"/>
  </p:custDataLst>
  <p:defaultTextStyle>
    <a:defPPr>
      <a:defRPr lang="zh-CN"/>
    </a:defPPr>
    <a:lvl1pPr marL="0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505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645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150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290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795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935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40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580" algn="l" defTabSz="71564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4" userDrawn="1">
          <p15:clr>
            <a:srgbClr val="A4A3A4"/>
          </p15:clr>
        </p15:guide>
        <p15:guide id="2" pos="2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1F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99" d="100"/>
          <a:sy n="99" d="100"/>
        </p:scale>
        <p:origin x="357" y="36"/>
      </p:cViewPr>
      <p:guideLst>
        <p:guide orient="horz" pos="1864"/>
        <p:guide pos="261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gs" Target="tags/tag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43F41-1922-49C2-8D92-970F9631D994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803275"/>
            <a:ext cx="5346700" cy="4011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083175"/>
            <a:ext cx="6045200" cy="48148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6317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79900" y="1016317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77B09-F3E0-481B-9890-8FFE669276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3313" y="801688"/>
            <a:ext cx="5349875" cy="40132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043305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42C5F-9614-4E3D-94DB-87C1D4E2488E}" type="slidenum">
              <a:rPr lang="zh-CN" altLang="en-US" smtClean="0">
                <a:solidFill>
                  <a:prstClr val="black"/>
                </a:solidFill>
              </a:rPr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A4FC3-F9EE-4601-93A4-3224F64C463C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3C4AB-2765-4C32-A211-347384979B5D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3D149-3FD7-472E-9694-19B4EF42F276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143000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B7B24-2DC2-479C-9CD1-B68F5C2CE304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499B0-810A-4E42-A223-1E87293D8434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EAAE-8DC5-48D1-985C-B64B8BF2E077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2FFA5-566E-44FC-ADBF-32AB3F54F10F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89C50-FDE9-4139-8D19-6A767370BC1C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AF1C4-29B8-4A86-A900-9F29E1E0770B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26C61-CBAB-4920-A15F-E7F194EA8FC0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B81DD-64B5-42C5-997B-E309C713A681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A4FC3-F9EE-4601-93A4-3224F64C463C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3C4AB-2765-4C32-A211-347384979B5D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3D149-3FD7-472E-9694-19B4EF42F276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143000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B7B24-2DC2-479C-9CD1-B68F5C2CE304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499B0-810A-4E42-A223-1E87293D8434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EAAE-8DC5-48D1-985C-B64B8BF2E077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2FFA5-566E-44FC-ADBF-32AB3F54F10F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89C50-FDE9-4139-8D19-6A767370BC1C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AF1C4-29B8-4A86-A900-9F29E1E0770B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26C61-CBAB-4920-A15F-E7F194EA8FC0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B81DD-64B5-42C5-997B-E309C713A681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05461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934082" y="6305461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65B1E98E-B04D-40EB-AEFC-533E357E74BA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58000" y="6248401"/>
            <a:ext cx="2209682" cy="476251"/>
          </a:xfrm>
        </p:spPr>
        <p:txBody>
          <a:bodyPr/>
          <a:lstStyle>
            <a:lvl1pPr>
              <a:defRPr/>
            </a:lvl1pPr>
          </a:lstStyle>
          <a:p>
            <a:fld id="{0E498068-DDC4-4982-A9BA-6ECAA27156F0}" type="slidenum">
              <a:rPr lang="en-US" altLang="zh-CN" smtClean="0">
                <a:solidFill>
                  <a:srgbClr val="FFFFFF"/>
                </a:solidFill>
              </a:rPr>
              <a:t>‹#›</a:t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5DE704-1D41-4EE1-B12F-287ED8D16E2A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143001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1"/>
            <a:ext cx="44958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69D865-C745-467E-A5DA-C63439EA5B5F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D1F3B2-C9AC-4B48-A894-C2DF0C67E313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4E4961-569D-4731-9CA9-21D0B11DAF96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57249C-E51C-4202-AE35-A359CD038D52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B3BF1C-A014-46F7-9251-647580A4F08E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72E369-A228-425D-9508-BF86CF8091F6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59AC81-7A70-4D95-AAA3-997BEB9B16F1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"/>
            <a:ext cx="2286000" cy="612616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"/>
            <a:ext cx="6705600" cy="612616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1634F8-5620-4FDB-9097-11CA89878D0B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540545" y="776293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40545" y="2250280"/>
            <a:ext cx="8062912" cy="1752600"/>
          </a:xfrm>
        </p:spPr>
        <p:txBody>
          <a:bodyPr/>
          <a:lstStyle>
            <a:lvl1pPr marL="0" marR="36830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1371600" y="6012660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1371600" y="5650708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92247" y="5752311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FD3A37AF-A6D7-4ECA-8317-5CDE700FBC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3"/>
            <a:ext cx="8229600" cy="1399032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480974"/>
            <a:ext cx="4260056" cy="300831"/>
          </a:xfrm>
        </p:spPr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/>
          <p:cNvSpPr/>
          <p:nvPr/>
        </p:nvSpPr>
        <p:spPr>
          <a:xfrm flipV="1">
            <a:off x="7035" y="7037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等腰三角形 7"/>
          <p:cNvSpPr/>
          <p:nvPr/>
        </p:nvSpPr>
        <p:spPr>
          <a:xfrm rot="5400000" flipV="1">
            <a:off x="7554356" y="309491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619376" y="6480974"/>
            <a:ext cx="4260056" cy="300831"/>
          </a:xfrm>
        </p:spPr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1056" y="809627"/>
            <a:ext cx="502920" cy="300831"/>
          </a:xfrm>
        </p:spPr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 rot="10800000">
            <a:off x="6468797" y="9381"/>
            <a:ext cx="2672861" cy="1900211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0" y="7036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71466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61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22441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22441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57201" y="6480969"/>
            <a:ext cx="4260056" cy="301752"/>
          </a:xfrm>
        </p:spPr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65007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1365007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1" y="6481895"/>
            <a:ext cx="4260056" cy="300831"/>
          </a:xfrm>
        </p:spPr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415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35857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138237" y="373967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9D79B-B2C7-4348-A193-63AEE30EABF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52F87-F84B-487E-B293-4DD71EC514CA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75FC0-176E-45F3-84F6-416ADAC432E2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BB456-A646-40FA-8CA3-A79E25E9944F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BF7C9-6FE7-4882-B349-C49DD881831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DCA25-9A3B-4E9B-B41A-CF4C525A7375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B872D-47E0-469F-B571-1360F52456E5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9BA0B-D80D-48CF-83A8-6BA505D71B42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24CBF-9BFC-45A6-9F17-4C39E7E29807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B2AD8-4CEB-4842-AE85-64F631AC107E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116C0-745C-40CA-AA08-12F52139C55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9/21/2026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9685"/>
            <a:fld id="{81D60167-4931-47E6-BA6A-407CBD079E47}" type="slidenum">
              <a:rPr lang="en-US" altLang="zh-CN" smtClean="0">
                <a:solidFill>
                  <a:prstClr val="black"/>
                </a:solidFill>
              </a:rPr>
              <a:t>‹#›</a:t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14400"/>
            <a:ext cx="91440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ED84F5-7D31-4BCA-BFF7-DA3EB7AB6075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0E500"/>
              </a:solidFill>
              <a:ea typeface="黑体" panose="0201060906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14400"/>
            <a:ext cx="91440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ED84F5-7D31-4BCA-BFF7-DA3EB7AB6075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0E500"/>
              </a:solidFill>
              <a:ea typeface="黑体" panose="0201060906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0" y="1143001"/>
            <a:ext cx="91440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1"/>
            <a:ext cx="2133600" cy="4762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FDDFD37A-8B09-4C1B-9078-2D7D5E2927B9}" type="slidenum">
              <a:rPr lang="en-US" altLang="zh-CN">
                <a:solidFill>
                  <a:srgbClr val="FFFFFF"/>
                </a:solidFill>
              </a:rPr>
              <a:t>‹#›</a:t>
            </a:fld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</a:ln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800">
              <a:solidFill>
                <a:srgbClr val="F0E500"/>
              </a:solidFill>
              <a:ea typeface="黑体" panose="0201060906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6FC0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1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7035" y="14072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7036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0800000" flipV="1">
            <a:off x="6468797" y="4948409"/>
            <a:ext cx="2672861" cy="1900211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67493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 defTabSz="914400"/>
            <a:fld id="{39C2994B-4E3C-4BA3-8C03-7DA5F78A6712}" type="datetimeFigureOut">
              <a:rPr lang="zh-CN" altLang="en-US" smtClean="0">
                <a:solidFill>
                  <a:prstClr val="white"/>
                </a:solidFill>
              </a:rPr>
              <a:t>2026/9/21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57201" y="6481895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 defTabSz="914400"/>
            <a:fld id="{FD3A37AF-A6D7-4ECA-8317-5CDE700FBC65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484505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310" indent="-384175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 panose="020B0604030504040204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indent="-228600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185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705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6285"/>
            <a:ext cx="2133600" cy="47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buFontTx/>
              <a:buNone/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6285"/>
            <a:ext cx="2895600" cy="47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buFontTx/>
              <a:buNone/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6285"/>
            <a:ext cx="2133600" cy="47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buFontTx/>
              <a:buNone/>
              <a:defRPr/>
            </a:pPr>
            <a:fld id="{EA319C09-2D77-4FF4-BB08-5F5A55884821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gz@buaa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3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png"/><Relationship Id="rId9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2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8.jpeg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1.jpeg"/><Relationship Id="rId4" Type="http://schemas.openxmlformats.org/officeDocument/2006/relationships/image" Target="../media/image5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file:///F:\rocket1.MPG" TargetMode="Externa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标题 1"/>
          <p:cNvSpPr>
            <a:spLocks noGrp="1"/>
          </p:cNvSpPr>
          <p:nvPr>
            <p:ph type="ctrTitle"/>
          </p:nvPr>
        </p:nvSpPr>
        <p:spPr>
          <a:xfrm>
            <a:off x="112713" y="1295400"/>
            <a:ext cx="8955087" cy="2667000"/>
          </a:xfrm>
        </p:spPr>
        <p:txBody>
          <a:bodyPr/>
          <a:lstStyle/>
          <a:p>
            <a:pPr eaLnBrk="1" hangingPunct="1"/>
            <a:r>
              <a:rPr lang="zh-CN" altLang="en-US" sz="4200" dirty="0">
                <a:solidFill>
                  <a:srgbClr val="0EFC02"/>
                </a:solidFill>
              </a:rPr>
              <a:t>火箭发动机原理</a:t>
            </a:r>
            <a:br>
              <a:rPr lang="en-US" altLang="zh-CN" sz="4200" dirty="0"/>
            </a:br>
            <a:br>
              <a:rPr lang="zh-CN" altLang="en-US" sz="4200" dirty="0"/>
            </a:br>
            <a:r>
              <a:rPr lang="zh-CN" altLang="en-US" sz="4800" dirty="0"/>
              <a:t>第</a:t>
            </a:r>
            <a:r>
              <a:rPr lang="en-US" altLang="zh-CN" sz="4800" dirty="0"/>
              <a:t>2</a:t>
            </a:r>
            <a:r>
              <a:rPr lang="zh-CN" altLang="en-US" sz="4800" dirty="0"/>
              <a:t>章推力室和发动机的</a:t>
            </a:r>
            <a:br>
              <a:rPr lang="en-US" altLang="zh-CN" sz="4800" dirty="0"/>
            </a:br>
            <a:r>
              <a:rPr lang="zh-CN" altLang="en-US" sz="4800" dirty="0"/>
              <a:t>主要性能参数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505200"/>
            <a:ext cx="8534400" cy="3200400"/>
          </a:xfrm>
        </p:spPr>
        <p:txBody>
          <a:bodyPr/>
          <a:lstStyle/>
          <a:p>
            <a:pPr eaLnBrk="1" hangingPunct="1"/>
            <a:endParaRPr lang="zh-CN" altLang="en-US" dirty="0">
              <a:ea typeface="隶书" panose="02010509060101010101" pitchFamily="49" charset="-122"/>
            </a:endParaRPr>
          </a:p>
          <a:p>
            <a:pPr eaLnBrk="1" hangingPunct="1"/>
            <a:r>
              <a:rPr lang="zh-CN" altLang="en-US" dirty="0">
                <a:ea typeface="隶书" panose="02010509060101010101" pitchFamily="49" charset="-122"/>
              </a:rPr>
              <a:t>梁国柱 教授</a:t>
            </a:r>
            <a:endParaRPr lang="en-US" altLang="zh-CN" dirty="0">
              <a:ea typeface="隶书" panose="02010509060101010101" pitchFamily="49" charset="-122"/>
            </a:endParaRPr>
          </a:p>
          <a:p>
            <a:pPr eaLnBrk="1" hangingPunct="1"/>
            <a:r>
              <a:rPr lang="en-US" altLang="zh-CN" dirty="0">
                <a:ea typeface="华文新魏" panose="02010800040101010101" pitchFamily="2" charset="-122"/>
                <a:hlinkClick r:id="rId2"/>
              </a:rPr>
              <a:t>lgz@buaa.edu.cn</a:t>
            </a:r>
            <a:endParaRPr lang="en-US" altLang="zh-CN" dirty="0">
              <a:ea typeface="华文新魏" panose="02010800040101010101" pitchFamily="2" charset="-122"/>
            </a:endParaRPr>
          </a:p>
          <a:p>
            <a:pPr eaLnBrk="1" hangingPunct="1"/>
            <a:br>
              <a:rPr lang="en-US" altLang="zh-CN" dirty="0">
                <a:ea typeface="隶书" panose="02010509060101010101" pitchFamily="49" charset="-122"/>
              </a:rPr>
            </a:br>
            <a:r>
              <a:rPr lang="zh-CN" altLang="en-US" dirty="0">
                <a:ea typeface="隶书" panose="02010509060101010101" pitchFamily="49" charset="-122"/>
              </a:rPr>
              <a:t>北京航空航天大学宇航学院</a:t>
            </a:r>
          </a:p>
          <a:p>
            <a:pPr eaLnBrk="1" hangingPunct="1"/>
            <a:r>
              <a:rPr lang="en-US" altLang="zh-CN" sz="2800" b="1" i="1" dirty="0"/>
              <a:t>2026.9.11</a:t>
            </a:r>
            <a:endParaRPr lang="en-US" altLang="zh-CN" sz="2800" dirty="0">
              <a:solidFill>
                <a:schemeClr val="folHlink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CC5097-2B30-43C9-AE88-C4D50F04DCD3}" type="slidenum">
              <a:rPr lang="en-US" altLang="zh-CN" smtClean="0">
                <a:solidFill>
                  <a:srgbClr val="FFFFFF"/>
                </a:solidFill>
              </a:rPr>
              <a:t>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65044"/>
            <a:ext cx="899954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大作业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2" charset="-122"/>
              </a:rPr>
              <a:t>1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：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调查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分析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与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研究重复使用运载火箭朱雀三号和长征十号乙动力系统的性能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（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202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9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ru-RU" sz="2800" dirty="0">
                <a:solidFill>
                  <a:schemeClr val="tx1"/>
                </a:solidFill>
                <a:sym typeface="+mn-ea"/>
              </a:rPr>
              <a:t>11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）</a:t>
            </a: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76318" y="1053657"/>
            <a:ext cx="892322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2600" dirty="0">
                <a:solidFill>
                  <a:srgbClr val="002060"/>
                </a:solidFill>
                <a:latin typeface="黑体" panose="02010609060101010101" pitchFamily="2" charset="-122"/>
              </a:rPr>
              <a:t>作业题目：</a:t>
            </a:r>
            <a:r>
              <a:rPr lang="zh-CN" altLang="en-US" sz="2600" dirty="0">
                <a:solidFill>
                  <a:srgbClr val="C00000"/>
                </a:solidFill>
                <a:latin typeface="黑体" panose="02010609060101010101" pitchFamily="2" charset="-122"/>
              </a:rPr>
              <a:t>调查</a:t>
            </a:r>
            <a:r>
              <a:rPr lang="zh-CN" altLang="en-US" sz="2600" dirty="0">
                <a:solidFill>
                  <a:srgbClr val="0000CC"/>
                </a:solidFill>
                <a:latin typeface="黑体" panose="02010609060101010101" pitchFamily="2" charset="-122"/>
              </a:rPr>
              <a:t>、</a:t>
            </a:r>
            <a:r>
              <a:rPr lang="zh-CN" altLang="en-US" sz="2600" dirty="0">
                <a:solidFill>
                  <a:srgbClr val="C00000"/>
                </a:solidFill>
                <a:latin typeface="黑体" panose="02010609060101010101" pitchFamily="2" charset="-122"/>
              </a:rPr>
              <a:t>分析</a:t>
            </a:r>
            <a:r>
              <a:rPr lang="zh-CN" altLang="en-US" sz="2600" dirty="0">
                <a:solidFill>
                  <a:srgbClr val="0000CC"/>
                </a:solidFill>
                <a:latin typeface="黑体" panose="02010609060101010101" pitchFamily="2" charset="-122"/>
              </a:rPr>
              <a:t>与</a:t>
            </a:r>
            <a:r>
              <a:rPr lang="zh-CN" altLang="en-US" sz="2600" dirty="0">
                <a:solidFill>
                  <a:srgbClr val="C00000"/>
                </a:solidFill>
                <a:latin typeface="黑体" panose="02010609060101010101" pitchFamily="2" charset="-122"/>
              </a:rPr>
              <a:t>研究</a:t>
            </a:r>
            <a:r>
              <a:rPr lang="zh-CN" altLang="en-US" sz="2600" dirty="0">
                <a:latin typeface="黑体" panose="02010609060101010101" pitchFamily="2" charset="-122"/>
              </a:rPr>
              <a:t>重复使用运载火箭朱雀三号和长征十号乙动力系统的性能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，根据文献资源</a:t>
            </a:r>
            <a:r>
              <a:rPr lang="zh-CN" altLang="en-US" sz="2600" b="1" kern="10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调查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其动力系统工作方案和工作能力等特性，根据所学基本理论</a:t>
            </a:r>
            <a:r>
              <a:rPr lang="zh-CN" altLang="en-US" sz="2600" b="1" kern="10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分析（含计算）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发动机性能参数，在此基础上进一步拓展</a:t>
            </a:r>
            <a:r>
              <a:rPr lang="zh-CN" altLang="en-US" sz="2600" b="1" kern="10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研究（含计算）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相关发动机的优缺点和可能的改进设计方案</a:t>
            </a:r>
            <a:r>
              <a:rPr lang="zh-CN" altLang="zh-CN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。计算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所需原始参数可通过自行查阅相关文献分析或计算获得。</a:t>
            </a:r>
            <a:endParaRPr lang="en-US" altLang="zh-CN" sz="2600" kern="1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2600" dirty="0">
                <a:solidFill>
                  <a:schemeClr val="tx1"/>
                </a:solidFill>
                <a:latin typeface="黑体" panose="02010609060101010101" pitchFamily="2" charset="-122"/>
              </a:rPr>
              <a:t>程序要求：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全部核心计算程序要求用</a:t>
            </a:r>
            <a:r>
              <a:rPr lang="zh-CN" altLang="en-US" sz="2600" b="1" kern="10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Ｃ语言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编写。除需要选定的参数可以人工从屏幕输入以外，所有计算由程序自动执行；程序发布版的形式可以是控制台形式的、带用户友好界面形式的、微信小程序形式的、或</a:t>
            </a:r>
            <a:r>
              <a:rPr lang="en-US" altLang="zh-CN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APP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形式的，同学根据自己编程情况自定。</a:t>
            </a:r>
          </a:p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2600" dirty="0">
                <a:solidFill>
                  <a:schemeClr val="tx1"/>
                </a:solidFill>
                <a:latin typeface="黑体" panose="02010609060101010101" pitchFamily="2" charset="-122"/>
                <a:sym typeface="+mn-ea"/>
              </a:rPr>
              <a:t>成绩评定：</a:t>
            </a:r>
            <a:r>
              <a:rPr lang="zh-CN" altLang="en-US" sz="2600" kern="1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评委打分评定，小组成绩就是组员的成绩。</a:t>
            </a:r>
            <a:endParaRPr lang="zh-CN" altLang="en-US" sz="2600" kern="1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05476" name="Line 4"/>
          <p:cNvSpPr>
            <a:spLocks noChangeShapeType="1"/>
          </p:cNvSpPr>
          <p:nvPr/>
        </p:nvSpPr>
        <p:spPr bwMode="auto">
          <a:xfrm>
            <a:off x="0" y="1028700"/>
            <a:ext cx="9144000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20508" y="6252470"/>
            <a:ext cx="7688580" cy="52197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2800" b="1" kern="100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所学基本理论</a:t>
            </a:r>
            <a:r>
              <a:rPr lang="zh-CN" altLang="en-US" sz="2800" b="1" kern="100" dirty="0">
                <a:solidFill>
                  <a:srgbClr val="0000FF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能用尽用、能算尽算、学以致用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2" charset="-122"/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0" y="1066862"/>
            <a:ext cx="91440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作业报告：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规范撰写包括研究目标、计算方法、参数确定、程序设计思想与关键技术、程序流程图（框图）、程序说明、设计案例结果与分析、结论与感悟、参考文献、各组员分工说明等内容的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研究报告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团队协作：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研究小组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（每组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6-7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人），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组长负责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分解任务、组织团队协作，推动工作。人人要有贡献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编程、算法、资料、报告、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、数据整理、分析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……)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</a:rPr>
              <a:t>     助教完成随机分组，由组员决定组长人选。</a:t>
            </a:r>
            <a:endParaRPr lang="en-US" altLang="zh-CN" sz="2400" dirty="0">
              <a:solidFill>
                <a:srgbClr val="0000CC"/>
              </a:solidFill>
              <a:latin typeface="黑体" panose="02010609060101010101" pitchFamily="2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展示汇报：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日（周五</a:t>
            </a:r>
            <a:r>
              <a:rPr lang="en-US" altLang="zh-CN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3-5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节）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展示汇报研究成果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2" charset="-122"/>
              </a:rPr>
              <a:t>。 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每组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展示不超过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分钟，提问不超过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分钟。课堂展示当天由组长上交完整作业（主要包括程序源代码、程序发布版、展示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PPT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、作业报告等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项内容）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2" charset="-122"/>
              </a:rPr>
              <a:t>。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0" y="1028700"/>
            <a:ext cx="9144000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984157" y="6265805"/>
            <a:ext cx="5161280" cy="52197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</a:rPr>
              <a:t>完成作业的过程就是科学研究！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B49C9A2-3813-26EC-7DC8-C93ECD578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044"/>
            <a:ext cx="899954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大作业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2" charset="-122"/>
              </a:rPr>
              <a:t>1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：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调查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分析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</a:rPr>
              <a:t>与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</a:rPr>
              <a:t>研究重复使用运载火箭朱雀三号和长征十号乙动力系统的性能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（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202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9</a:t>
            </a:r>
            <a:r>
              <a:rPr lang="ru-RU" altLang="zh-CN" sz="28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ru-RU" sz="2800" dirty="0">
                <a:solidFill>
                  <a:schemeClr val="tx1"/>
                </a:solidFill>
                <a:sym typeface="+mn-ea"/>
              </a:rPr>
              <a:t>11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1054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dirty="0"/>
              <a:t>2</a:t>
            </a:r>
            <a:r>
              <a:rPr lang="ru-RU" altLang="zh-CN" dirty="0"/>
              <a:t>.1  </a:t>
            </a:r>
            <a:r>
              <a:rPr lang="zh-CN" altLang="en-US" dirty="0"/>
              <a:t>推力室的推力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ru-RU" altLang="zh-CN" dirty="0"/>
              <a:t>2</a:t>
            </a:r>
            <a:r>
              <a:rPr lang="en-US" altLang="zh-CN" dirty="0"/>
              <a:t>  </a:t>
            </a:r>
            <a:r>
              <a:rPr lang="zh-CN" altLang="en-US" dirty="0"/>
              <a:t>推力室的总冲和比冲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ru-RU" altLang="zh-CN" dirty="0"/>
              <a:t>3</a:t>
            </a:r>
            <a:r>
              <a:rPr lang="en-US" altLang="zh-CN" dirty="0"/>
              <a:t>  </a:t>
            </a:r>
            <a:r>
              <a:rPr lang="zh-CN" altLang="en-US" dirty="0"/>
              <a:t>推力室的喷气速度</a:t>
            </a:r>
            <a:br>
              <a:rPr lang="ru-RU" altLang="zh-CN" dirty="0"/>
            </a:br>
            <a:r>
              <a:rPr lang="en-US" altLang="zh-CN" dirty="0"/>
              <a:t>2.</a:t>
            </a:r>
            <a:r>
              <a:rPr lang="ru-RU" altLang="zh-CN" dirty="0"/>
              <a:t>4</a:t>
            </a:r>
            <a:r>
              <a:rPr lang="en-US" altLang="zh-CN" dirty="0"/>
              <a:t>  </a:t>
            </a:r>
            <a:r>
              <a:rPr lang="zh-CN" altLang="en-US" dirty="0"/>
              <a:t>推力室的质量流量和特征速度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ru-RU" altLang="zh-CN" dirty="0"/>
              <a:t>5  </a:t>
            </a:r>
            <a:r>
              <a:rPr lang="zh-CN" altLang="en-US" dirty="0"/>
              <a:t>推力系数和最大理想推力</a:t>
            </a:r>
            <a:br>
              <a:rPr lang="en-US" altLang="zh-CN" dirty="0"/>
            </a:br>
            <a:r>
              <a:rPr lang="en-US" altLang="zh-CN" dirty="0"/>
              <a:t>2.6  </a:t>
            </a:r>
            <a:r>
              <a:rPr lang="zh-CN" altLang="en-US" dirty="0"/>
              <a:t>推力室主要参数之间的关系</a:t>
            </a:r>
            <a:br>
              <a:rPr lang="en-US" altLang="zh-CN" dirty="0"/>
            </a:br>
            <a:r>
              <a:rPr lang="en-US" altLang="zh-CN" dirty="0"/>
              <a:t>2.7  </a:t>
            </a:r>
            <a:r>
              <a:rPr lang="zh-CN" altLang="en-US" dirty="0"/>
              <a:t>推力室性能参数的理想值和实际值</a:t>
            </a:r>
            <a:br>
              <a:rPr lang="en-US" altLang="zh-CN" dirty="0"/>
            </a:br>
            <a:r>
              <a:rPr lang="en-US" altLang="zh-CN" dirty="0"/>
              <a:t>2.8  </a:t>
            </a:r>
            <a:r>
              <a:rPr lang="zh-CN" altLang="en-US" dirty="0"/>
              <a:t>发动机的主要参数</a:t>
            </a:r>
            <a:br>
              <a:rPr lang="en-US" altLang="zh-CN" dirty="0"/>
            </a:br>
            <a:r>
              <a:rPr lang="en-US" altLang="zh-CN" dirty="0"/>
              <a:t>2.9  </a:t>
            </a:r>
            <a:r>
              <a:rPr lang="zh-CN" altLang="en-US" dirty="0"/>
              <a:t>航天飞行任务分析及其对火箭发动机性能的要求</a:t>
            </a:r>
            <a:endParaRPr lang="zh-CN" altLang="zh-CN" b="1" dirty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4</a:t>
            </a:fld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700" dirty="0">
                <a:sym typeface="+mn-ea"/>
              </a:rPr>
              <a:t>第</a:t>
            </a:r>
            <a:r>
              <a:rPr lang="en-US" altLang="zh-CN" sz="3700" dirty="0">
                <a:sym typeface="+mn-ea"/>
              </a:rPr>
              <a:t>2</a:t>
            </a:r>
            <a:r>
              <a:rPr lang="zh-CN" altLang="en-US" sz="3700" dirty="0">
                <a:sym typeface="+mn-ea"/>
              </a:rPr>
              <a:t>章 推力室和发动机的主要性能参数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推力室的概念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2.1 </a:t>
            </a:r>
            <a:r>
              <a:rPr lang="zh-CN" altLang="en-US" sz="4000" dirty="0">
                <a:solidFill>
                  <a:srgbClr val="FFFF00"/>
                </a:solidFill>
              </a:rPr>
              <a:t>推力室的推力</a:t>
            </a:r>
          </a:p>
          <a:p>
            <a:endParaRPr lang="zh-CN" altLang="en-US" sz="4000" dirty="0">
              <a:solidFill>
                <a:srgbClr val="FFFF00"/>
              </a:solidFill>
            </a:endParaRPr>
          </a:p>
        </p:txBody>
      </p:sp>
      <p:sp>
        <p:nvSpPr>
          <p:cNvPr id="7" name="object 75"/>
          <p:cNvSpPr/>
          <p:nvPr/>
        </p:nvSpPr>
        <p:spPr>
          <a:xfrm>
            <a:off x="5867400" y="4704715"/>
            <a:ext cx="2358390" cy="1765300"/>
          </a:xfrm>
          <a:prstGeom prst="rect">
            <a:avLst/>
          </a:prstGeom>
          <a:blipFill>
            <a:blip r:embed="rId2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76"/>
          <p:cNvSpPr txBox="1"/>
          <p:nvPr/>
        </p:nvSpPr>
        <p:spPr>
          <a:xfrm>
            <a:off x="6123662" y="6477192"/>
            <a:ext cx="1877338" cy="317813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altLang="en-US" sz="20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一般</a:t>
            </a:r>
            <a:r>
              <a:rPr sz="20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推力室简图</a:t>
            </a:r>
            <a:endParaRPr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77"/>
          <p:cNvSpPr/>
          <p:nvPr/>
        </p:nvSpPr>
        <p:spPr>
          <a:xfrm>
            <a:off x="1371600" y="4585970"/>
            <a:ext cx="2632710" cy="1662430"/>
          </a:xfrm>
          <a:prstGeom prst="rect">
            <a:avLst/>
          </a:prstGeom>
          <a:blipFill>
            <a:blip r:embed="rId3" cstate="print">
              <a:duotone>
                <a:prstClr val="black"/>
                <a:srgbClr val="4F81BD">
                  <a:tint val="45000"/>
                  <a:satMod val="400000"/>
                </a:srgb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663" name="图片 466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520" y="990600"/>
            <a:ext cx="2350135" cy="3060065"/>
          </a:xfrm>
          <a:prstGeom prst="rect">
            <a:avLst/>
          </a:prstGeom>
        </p:spPr>
      </p:pic>
      <p:sp>
        <p:nvSpPr>
          <p:cNvPr id="3" name="object 78"/>
          <p:cNvSpPr txBox="1"/>
          <p:nvPr/>
        </p:nvSpPr>
        <p:spPr>
          <a:xfrm>
            <a:off x="8305800" y="1371600"/>
            <a:ext cx="391160" cy="4318000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液</a:t>
            </a:r>
            <a:r>
              <a:rPr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体发动机</a:t>
            </a:r>
            <a:r>
              <a:rPr sz="2800" b="1" spc="4" dirty="0" err="1">
                <a:latin typeface="宋体" panose="02010600030101010101" pitchFamily="2" charset="-122"/>
                <a:cs typeface="宋体" panose="02010600030101010101" pitchFamily="2" charset="-122"/>
              </a:rPr>
              <a:t>推</a:t>
            </a:r>
            <a:r>
              <a:rPr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力室简图</a:t>
            </a:r>
          </a:p>
        </p:txBody>
      </p:sp>
      <p:sp>
        <p:nvSpPr>
          <p:cNvPr id="4" name="object 78"/>
          <p:cNvSpPr txBox="1"/>
          <p:nvPr/>
        </p:nvSpPr>
        <p:spPr>
          <a:xfrm>
            <a:off x="304800" y="1828800"/>
            <a:ext cx="391160" cy="4318000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固</a:t>
            </a:r>
            <a:r>
              <a:rPr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体发动机</a:t>
            </a:r>
            <a:r>
              <a:rPr sz="2800" b="1" spc="4" dirty="0" err="1">
                <a:latin typeface="宋体" panose="02010600030101010101" pitchFamily="2" charset="-122"/>
                <a:cs typeface="宋体" panose="02010600030101010101" pitchFamily="2" charset="-122"/>
              </a:rPr>
              <a:t>推</a:t>
            </a:r>
            <a:r>
              <a:rPr sz="2800" b="1" spc="-4" dirty="0" err="1">
                <a:latin typeface="宋体" panose="02010600030101010101" pitchFamily="2" charset="-122"/>
                <a:cs typeface="宋体" panose="02010600030101010101" pitchFamily="2" charset="-122"/>
              </a:rPr>
              <a:t>力室简图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26852" r="20139" b="32407"/>
          <a:stretch>
            <a:fillRect/>
          </a:stretch>
        </p:blipFill>
        <p:spPr bwMode="auto">
          <a:xfrm>
            <a:off x="838200" y="1752600"/>
            <a:ext cx="3906520" cy="202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下箭头 5"/>
          <p:cNvSpPr/>
          <p:nvPr/>
        </p:nvSpPr>
        <p:spPr>
          <a:xfrm>
            <a:off x="2514600" y="3962400"/>
            <a:ext cx="304800" cy="533400"/>
          </a:xfrm>
          <a:prstGeom prst="downArrow">
            <a:avLst/>
          </a:prstGeom>
          <a:solidFill>
            <a:srgbClr val="21FF36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6934200" y="4114800"/>
            <a:ext cx="304800" cy="533400"/>
          </a:xfrm>
          <a:prstGeom prst="downArrow">
            <a:avLst/>
          </a:prstGeom>
          <a:solidFill>
            <a:srgbClr val="21FF36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3" name="下箭头 12"/>
          <p:cNvSpPr/>
          <p:nvPr/>
        </p:nvSpPr>
        <p:spPr>
          <a:xfrm rot="16200000">
            <a:off x="4777740" y="5052060"/>
            <a:ext cx="304800" cy="716280"/>
          </a:xfrm>
          <a:prstGeom prst="downArrow">
            <a:avLst/>
          </a:prstGeom>
          <a:solidFill>
            <a:srgbClr val="21FF36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推力的定义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2.1 </a:t>
            </a:r>
            <a:r>
              <a:rPr lang="zh-CN" altLang="en-US" sz="4000" dirty="0">
                <a:solidFill>
                  <a:srgbClr val="FFFF00"/>
                </a:solidFill>
              </a:rPr>
              <a:t>推力室的推力</a:t>
            </a:r>
          </a:p>
        </p:txBody>
      </p:sp>
      <p:sp>
        <p:nvSpPr>
          <p:cNvPr id="11" name="object 78"/>
          <p:cNvSpPr txBox="1"/>
          <p:nvPr/>
        </p:nvSpPr>
        <p:spPr>
          <a:xfrm>
            <a:off x="1447800" y="6173832"/>
            <a:ext cx="6248400" cy="379368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altLang="en-US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与推力相关的推力室内外表面上的气体作用力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821" y="1740206"/>
            <a:ext cx="6019800" cy="430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推力公式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2.1 </a:t>
            </a:r>
            <a:r>
              <a:rPr lang="zh-CN" altLang="en-US" sz="4000" dirty="0">
                <a:solidFill>
                  <a:srgbClr val="FFFF00"/>
                </a:solidFill>
              </a:rPr>
              <a:t>推力室的推力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905000" y="1701800"/>
          <a:ext cx="365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918400" imgH="5486400" progId="Equation.3">
                  <p:embed/>
                </p:oleObj>
              </mc:Choice>
              <mc:Fallback>
                <p:oleObj r:id="rId2" imgW="32918400" imgH="5486400" progId="Equation.3">
                  <p:embed/>
                  <p:pic>
                    <p:nvPicPr>
                      <p:cNvPr id="0" name="图片 10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01800"/>
                        <a:ext cx="3657600" cy="8128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下箭头 7"/>
          <p:cNvSpPr/>
          <p:nvPr/>
        </p:nvSpPr>
        <p:spPr>
          <a:xfrm>
            <a:off x="3493681" y="2616200"/>
            <a:ext cx="381000" cy="914400"/>
          </a:xfrm>
          <a:prstGeom prst="down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0479" y="3711945"/>
            <a:ext cx="2195473" cy="234936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4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动推力</a:t>
            </a:r>
            <a:endParaRPr lang="en-US" altLang="zh-CN" sz="2400" spc="4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静推力</a:t>
            </a:r>
            <a:endParaRPr lang="en-US" altLang="zh-CN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海平面推力</a:t>
            </a:r>
            <a:endParaRPr lang="en-US" altLang="zh-CN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真空推力</a:t>
            </a:r>
            <a:endParaRPr lang="en-US" altLang="zh-CN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特征推力</a:t>
            </a:r>
          </a:p>
        </p:txBody>
      </p:sp>
      <p:sp>
        <p:nvSpPr>
          <p:cNvPr id="12" name="矩形 11"/>
          <p:cNvSpPr/>
          <p:nvPr/>
        </p:nvSpPr>
        <p:spPr>
          <a:xfrm>
            <a:off x="2999994" y="3811971"/>
            <a:ext cx="2094932" cy="10567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设计状态</a:t>
            </a:r>
            <a:endParaRPr lang="en-US" altLang="zh-CN" sz="2800" spc="4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设计高度</a:t>
            </a:r>
          </a:p>
        </p:txBody>
      </p:sp>
      <p:sp>
        <p:nvSpPr>
          <p:cNvPr id="13" name="矩形 12"/>
          <p:cNvSpPr/>
          <p:nvPr/>
        </p:nvSpPr>
        <p:spPr>
          <a:xfrm>
            <a:off x="5442857" y="4038600"/>
            <a:ext cx="2814104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467360" indent="-457200">
              <a:spcBef>
                <a:spcPts val="820"/>
              </a:spcBef>
              <a:buFont typeface="Wingdings" panose="05000000000000000000" pitchFamily="2" charset="2"/>
              <a:buChar char="Ø"/>
            </a:pPr>
            <a:r>
              <a:rPr lang="zh-CN" altLang="en-US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等效喷气速度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400800" y="4916104"/>
          <a:ext cx="1219200" cy="544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4" imgW="596900" imgH="228600" progId="Equation.3">
                  <p:embed/>
                </p:oleObj>
              </mc:Choice>
              <mc:Fallback>
                <p:oleObj name="Microsoft 公式 3.0" r:id="rId4" imgW="596900" imgH="228600" progId="Equation.3">
                  <p:embed/>
                  <p:pic>
                    <p:nvPicPr>
                      <p:cNvPr id="0" name="图片 103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916104"/>
                        <a:ext cx="1219200" cy="5448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172201" y="5562600"/>
          <a:ext cx="2654229" cy="103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4" imgW="1332865" imgH="406400" progId="Equation.3">
                  <p:embed/>
                </p:oleObj>
              </mc:Choice>
              <mc:Fallback>
                <p:oleObj name="Microsoft 公式 3.0" r:id="rId4" imgW="1332865" imgH="406400" progId="Equation.3">
                  <p:embed/>
                  <p:pic>
                    <p:nvPicPr>
                      <p:cNvPr id="0" name="图片 10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5562600"/>
                        <a:ext cx="2654229" cy="1036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箭头 15"/>
          <p:cNvSpPr/>
          <p:nvPr/>
        </p:nvSpPr>
        <p:spPr>
          <a:xfrm>
            <a:off x="5800060" y="1894959"/>
            <a:ext cx="609600" cy="467241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53200" y="1828800"/>
            <a:ext cx="1633268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10160">
              <a:spcBef>
                <a:spcPts val="820"/>
              </a:spcBef>
            </a:pPr>
            <a:r>
              <a:rPr lang="zh-CN" altLang="en-US" sz="2800" spc="4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高度特性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b="1" dirty="0"/>
              <a:t> </a:t>
            </a:r>
            <a:r>
              <a:rPr lang="zh-CN" altLang="ru-RU" b="1" dirty="0"/>
              <a:t>研讨：涡轮喷气发动机的推力怎么算？</a:t>
            </a:r>
            <a:endParaRPr lang="zh-CN" altLang="ru-RU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2.1 </a:t>
            </a:r>
            <a:r>
              <a:rPr lang="zh-CN" altLang="en-US" sz="4000" dirty="0">
                <a:solidFill>
                  <a:srgbClr val="FFFF00"/>
                </a:solidFill>
              </a:rPr>
              <a:t>推力室的推力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4" t="53703" r="16667" b="23149"/>
          <a:stretch>
            <a:fillRect/>
          </a:stretch>
        </p:blipFill>
        <p:spPr bwMode="auto">
          <a:xfrm>
            <a:off x="3502025" y="1715770"/>
            <a:ext cx="5079365" cy="195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EPK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78"/>
          <a:stretch>
            <a:fillRect/>
          </a:stretch>
        </p:blipFill>
        <p:spPr bwMode="auto">
          <a:xfrm>
            <a:off x="533400" y="1716405"/>
            <a:ext cx="2739390" cy="1924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bject 78"/>
          <p:cNvSpPr txBox="1"/>
          <p:nvPr/>
        </p:nvSpPr>
        <p:spPr>
          <a:xfrm>
            <a:off x="685800" y="3733800"/>
            <a:ext cx="2235200" cy="748030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altLang="en-US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固体火箭发动机</a:t>
            </a:r>
            <a:r>
              <a:rPr lang="en-US" altLang="zh-CN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推力室</a:t>
            </a:r>
            <a:r>
              <a:rPr lang="en-US" altLang="zh-CN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5" name="object 78"/>
          <p:cNvSpPr txBox="1"/>
          <p:nvPr/>
        </p:nvSpPr>
        <p:spPr>
          <a:xfrm>
            <a:off x="5320030" y="3785870"/>
            <a:ext cx="2390140" cy="378460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altLang="en-US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涡轮喷气发动机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2615" y="5562600"/>
          <a:ext cx="229933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918400" imgH="5486400" progId="Equation.3">
                  <p:embed/>
                </p:oleObj>
              </mc:Choice>
              <mc:Fallback>
                <p:oleObj r:id="rId4" imgW="32918400" imgH="5486400" progId="Equation.3">
                  <p:embed/>
                  <p:pic>
                    <p:nvPicPr>
                      <p:cNvPr id="0" name="图片 10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" y="5562600"/>
                        <a:ext cx="2299335" cy="5111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下箭头 17"/>
          <p:cNvSpPr/>
          <p:nvPr/>
        </p:nvSpPr>
        <p:spPr>
          <a:xfrm>
            <a:off x="1600200" y="4648200"/>
            <a:ext cx="304800" cy="533400"/>
          </a:xfrm>
          <a:prstGeom prst="downArrow">
            <a:avLst/>
          </a:prstGeom>
          <a:solidFill>
            <a:srgbClr val="21FF36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6248400" y="4572000"/>
            <a:ext cx="304800" cy="533400"/>
          </a:xfrm>
          <a:prstGeom prst="downArrow">
            <a:avLst/>
          </a:prstGeom>
          <a:solidFill>
            <a:srgbClr val="21FF36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" name="object 78"/>
          <p:cNvSpPr txBox="1"/>
          <p:nvPr/>
        </p:nvSpPr>
        <p:spPr>
          <a:xfrm>
            <a:off x="5887720" y="5503545"/>
            <a:ext cx="1026160" cy="501650"/>
          </a:xfrm>
          <a:prstGeom prst="rect">
            <a:avLst/>
          </a:prstGeom>
        </p:spPr>
        <p:txBody>
          <a:bodyPr vert="horz" wrap="square" lIns="0" tIns="9939" rIns="0" bIns="0" rtlCol="0">
            <a:spAutoFit/>
          </a:bodyPr>
          <a:lstStyle/>
          <a:p>
            <a:pPr marL="10160" algn="ctr">
              <a:spcBef>
                <a:spcPts val="80"/>
              </a:spcBef>
            </a:pPr>
            <a:r>
              <a:rPr lang="en-US" altLang="zh-CN" sz="32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?</a:t>
            </a:r>
          </a:p>
        </p:txBody>
      </p:sp>
      <p:sp>
        <p:nvSpPr>
          <p:cNvPr id="21" name="object 78"/>
          <p:cNvSpPr txBox="1"/>
          <p:nvPr/>
        </p:nvSpPr>
        <p:spPr>
          <a:xfrm>
            <a:off x="3276600" y="5410200"/>
            <a:ext cx="1694180" cy="748700"/>
          </a:xfrm>
          <a:prstGeom prst="rect">
            <a:avLst/>
          </a:prstGeom>
          <a:ln w="28575" cmpd="sng">
            <a:solidFill>
              <a:srgbClr val="C00000"/>
            </a:solidFill>
            <a:prstDash val="solid"/>
          </a:ln>
        </p:spPr>
        <p:txBody>
          <a:bodyPr vert="horz" wrap="square" lIns="0" tIns="9939" rIns="0" bIns="0" rtlCol="0">
            <a:spAutoFit/>
          </a:bodyPr>
          <a:lstStyle/>
          <a:p>
            <a:pPr marL="10160">
              <a:spcBef>
                <a:spcPts val="80"/>
              </a:spcBef>
            </a:pPr>
            <a:r>
              <a:rPr lang="zh-CN" altLang="en-US" sz="2400" b="1" spc="-4" dirty="0">
                <a:latin typeface="宋体" panose="02010600030101010101" pitchFamily="2" charset="-122"/>
                <a:cs typeface="宋体" panose="02010600030101010101" pitchFamily="2" charset="-122"/>
              </a:rPr>
              <a:t>假定推力的定义相同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61267" y="5562600"/>
          <a:ext cx="3705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06495" imgH="478790" progId="Equation.DSMT4">
                  <p:embed/>
                </p:oleObj>
              </mc:Choice>
              <mc:Fallback>
                <p:oleObj name="Equation" r:id="rId6" imgW="3706495" imgH="47879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61267" y="5562600"/>
                        <a:ext cx="3705225" cy="4762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推力室的总冲量（简称总冲）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2.2 </a:t>
            </a:r>
            <a:r>
              <a:rPr lang="zh-CN" altLang="en-US" sz="4000" dirty="0">
                <a:solidFill>
                  <a:srgbClr val="FFFF00"/>
                </a:solidFill>
              </a:rPr>
              <a:t>推力室的总冲和比冲</a:t>
            </a:r>
          </a:p>
        </p:txBody>
      </p:sp>
      <p:sp>
        <p:nvSpPr>
          <p:cNvPr id="12" name="object 6"/>
          <p:cNvSpPr txBox="1"/>
          <p:nvPr/>
        </p:nvSpPr>
        <p:spPr>
          <a:xfrm>
            <a:off x="3858197" y="3876542"/>
            <a:ext cx="61472" cy="8647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5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2133601" y="1904698"/>
            <a:ext cx="810197" cy="406400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4495801" y="1932579"/>
            <a:ext cx="810197" cy="406400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2400" y="2573655"/>
            <a:ext cx="2983865" cy="9347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53060" indent="-342900">
              <a:spcBef>
                <a:spcPts val="82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/>
              </a:rPr>
              <a:t>推力室的工作时间</a:t>
            </a:r>
            <a:endParaRPr lang="en-US" altLang="zh-CN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/>
            </a:endParaRPr>
          </a:p>
          <a:p>
            <a:pPr marL="353060" indent="-342900">
              <a:spcBef>
                <a:spcPts val="820"/>
              </a:spcBef>
              <a:buFont typeface="Wingdings" panose="05000000000000000000" pitchFamily="2" charset="2"/>
              <a:buChar char="n"/>
            </a:pPr>
            <a:r>
              <a:rPr lang="zh-CN" altLang="zh-CN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燃烧时间</a:t>
            </a: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（固发）</a:t>
            </a:r>
            <a:endParaRPr lang="zh-CN" altLang="en-US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29000" y="3872839"/>
          <a:ext cx="228600" cy="522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700" imgH="228600" progId="Equation.3">
                  <p:embed/>
                </p:oleObj>
              </mc:Choice>
              <mc:Fallback>
                <p:oleObj r:id="rId2" imgW="139700" imgH="228600" progId="Equation.3">
                  <p:embed/>
                  <p:pic>
                    <p:nvPicPr>
                      <p:cNvPr id="0" name="图片 83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872839"/>
                        <a:ext cx="228600" cy="5225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 descr="2-3"/>
          <p:cNvPicPr/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92830"/>
            <a:ext cx="3002915" cy="22752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19" name="矩形 18"/>
          <p:cNvSpPr/>
          <p:nvPr/>
        </p:nvSpPr>
        <p:spPr>
          <a:xfrm>
            <a:off x="144145" y="5929630"/>
            <a:ext cx="8750300" cy="8299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总冲是火箭发动机推力室的重要性能参数，包含推力和推力持续工作的时间，综合反映了推力室工作能力的大小。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410199" y="1765552"/>
          <a:ext cx="1834237" cy="70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300" imgH="241300" progId="Equation.DSMT4">
                  <p:embed/>
                </p:oleObj>
              </mc:Choice>
              <mc:Fallback>
                <p:oleObj name="Equation" r:id="rId5" imgW="622300" imgH="241300" progId="Equation.DSMT4">
                  <p:embed/>
                  <p:pic>
                    <p:nvPicPr>
                      <p:cNvPr id="0" name="图片 83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199" y="1765552"/>
                        <a:ext cx="1834237" cy="70493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28600" y="1676400"/>
          <a:ext cx="1715102" cy="826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330200" progId="Equation.DSMT4">
                  <p:embed/>
                </p:oleObj>
              </mc:Choice>
              <mc:Fallback>
                <p:oleObj name="Equation" r:id="rId2" imgW="698500" imgH="330200" progId="Equation.DSMT4">
                  <p:embed/>
                  <p:pic>
                    <p:nvPicPr>
                      <p:cNvPr id="0" name="图片 83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1715102" cy="82616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124198" y="1758707"/>
          <a:ext cx="1218703" cy="57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300" imgH="241300" progId="Equation.DSMT4">
                  <p:embed/>
                </p:oleObj>
              </mc:Choice>
              <mc:Fallback>
                <p:oleObj name="Equation" r:id="rId2" imgW="495300" imgH="241300" progId="Equation.DSMT4">
                  <p:embed/>
                  <p:pic>
                    <p:nvPicPr>
                      <p:cNvPr id="0" name="图片 8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8" y="1758707"/>
                        <a:ext cx="1218703" cy="5796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 descr="与500吨级固发合影_20240701_1"/>
          <p:cNvPicPr>
            <a:picLocks noChangeAspect="1"/>
          </p:cNvPicPr>
          <p:nvPr/>
        </p:nvPicPr>
        <p:blipFill>
          <a:blip r:embed="rId9"/>
          <a:srcRect t="30000" b="21731"/>
          <a:stretch>
            <a:fillRect/>
          </a:stretch>
        </p:blipFill>
        <p:spPr>
          <a:xfrm>
            <a:off x="3581400" y="2573655"/>
            <a:ext cx="5015865" cy="3229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800" dirty="0">
                <a:solidFill>
                  <a:srgbClr val="FFFF00"/>
                </a:solidFill>
              </a:rPr>
              <a:t>小作业（</a:t>
            </a:r>
            <a:r>
              <a:rPr lang="en-US" altLang="zh-CN" sz="4800" dirty="0">
                <a:solidFill>
                  <a:srgbClr val="FFFF00"/>
                </a:solidFill>
              </a:rPr>
              <a:t>2</a:t>
            </a:r>
            <a:r>
              <a:rPr lang="zh-CN" altLang="en-US" sz="4800" dirty="0">
                <a:solidFill>
                  <a:srgbClr val="FFFF00"/>
                </a:solidFill>
              </a:rPr>
              <a:t>）</a:t>
            </a:r>
            <a:r>
              <a:rPr lang="ru-RU" altLang="zh-CN" sz="4800" dirty="0">
                <a:solidFill>
                  <a:srgbClr val="FFFF00"/>
                </a:solidFill>
              </a:rPr>
              <a:t>202</a:t>
            </a:r>
            <a:r>
              <a:rPr lang="en-US" altLang="zh-CN" sz="4800" dirty="0">
                <a:solidFill>
                  <a:srgbClr val="FFFF00"/>
                </a:solidFill>
              </a:rPr>
              <a:t>6</a:t>
            </a:r>
            <a:r>
              <a:rPr lang="ru-RU" altLang="zh-CN" sz="4800" dirty="0">
                <a:solidFill>
                  <a:srgbClr val="FFFF00"/>
                </a:solidFill>
              </a:rPr>
              <a:t>.</a:t>
            </a:r>
            <a:r>
              <a:rPr lang="en-US" altLang="zh-CN" sz="4800" dirty="0">
                <a:solidFill>
                  <a:srgbClr val="FFFF00"/>
                </a:solidFill>
              </a:rPr>
              <a:t>9</a:t>
            </a:r>
            <a:r>
              <a:rPr lang="ru-RU" altLang="zh-CN" sz="4800" dirty="0">
                <a:solidFill>
                  <a:srgbClr val="FFFF00"/>
                </a:solidFill>
              </a:rPr>
              <a:t>.</a:t>
            </a:r>
            <a:r>
              <a:rPr lang="en-US" altLang="zh-CN" sz="4800" dirty="0">
                <a:solidFill>
                  <a:srgbClr val="FFFF00"/>
                </a:solidFill>
              </a:rPr>
              <a:t>11</a:t>
            </a:r>
            <a:endParaRPr lang="en-US" altLang="ru-RU" sz="4800" dirty="0">
              <a:solidFill>
                <a:srgbClr val="FFFF0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8898" y="1676446"/>
            <a:ext cx="8816857" cy="230832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803275" indent="-803275" defTabSz="914400">
              <a:defRPr/>
            </a:pPr>
            <a:r>
              <a:rPr lang="zh-CN" altLang="en-US" sz="3600" b="1" kern="0" dirty="0">
                <a:solidFill>
                  <a:srgbClr val="FFFFFF"/>
                </a:solidFill>
              </a:rPr>
              <a:t>（</a:t>
            </a:r>
            <a:r>
              <a:rPr lang="en-US" altLang="zh-CN" sz="3600" b="1" kern="0" dirty="0">
                <a:solidFill>
                  <a:srgbClr val="FFFFFF"/>
                </a:solidFill>
              </a:rPr>
              <a:t>1</a:t>
            </a:r>
            <a:r>
              <a:rPr lang="zh-CN" altLang="en-US" sz="3600" b="1" kern="0" dirty="0">
                <a:solidFill>
                  <a:srgbClr val="FFFFFF"/>
                </a:solidFill>
              </a:rPr>
              <a:t>）阅读教材，</a:t>
            </a:r>
            <a:r>
              <a:rPr lang="zh-CN" altLang="en-US" sz="3600" b="1" kern="0" dirty="0">
                <a:solidFill>
                  <a:srgbClr val="FF0000"/>
                </a:solidFill>
              </a:rPr>
              <a:t>复习</a:t>
            </a:r>
            <a:r>
              <a:rPr lang="zh-CN" altLang="en-US" sz="3600" b="1" kern="0" dirty="0">
                <a:solidFill>
                  <a:srgbClr val="FFFFFF"/>
                </a:solidFill>
              </a:rPr>
              <a:t>已学内容。</a:t>
            </a:r>
          </a:p>
          <a:p>
            <a:pPr marL="803275" indent="-803275" defTabSz="914400">
              <a:defRPr/>
            </a:pPr>
            <a:r>
              <a:rPr lang="zh-CN" altLang="en-US" sz="3600" b="1" kern="0" dirty="0">
                <a:solidFill>
                  <a:srgbClr val="FFFFFF"/>
                </a:solidFill>
              </a:rPr>
              <a:t>（</a:t>
            </a:r>
            <a:r>
              <a:rPr lang="en-US" altLang="zh-CN" sz="3600" b="1" kern="0" dirty="0">
                <a:solidFill>
                  <a:srgbClr val="FFFFFF"/>
                </a:solidFill>
              </a:rPr>
              <a:t>2</a:t>
            </a:r>
            <a:r>
              <a:rPr lang="zh-CN" altLang="en-US" sz="3600" b="1" kern="0" dirty="0">
                <a:solidFill>
                  <a:srgbClr val="FFFFFF"/>
                </a:solidFill>
              </a:rPr>
              <a:t>）完成习题</a:t>
            </a:r>
            <a:r>
              <a:rPr lang="en-US" altLang="zh-CN" sz="3600" b="1" kern="0" dirty="0">
                <a:solidFill>
                  <a:srgbClr val="FFFFFF"/>
                </a:solidFill>
              </a:rPr>
              <a:t>2-3</a:t>
            </a:r>
            <a:r>
              <a:rPr lang="zh-CN" altLang="en-US" sz="3600" b="1" kern="0" dirty="0">
                <a:solidFill>
                  <a:srgbClr val="FFFFFF"/>
                </a:solidFill>
              </a:rPr>
              <a:t>、</a:t>
            </a:r>
            <a:r>
              <a:rPr lang="en-US" altLang="zh-CN" sz="3600" b="1" kern="0" dirty="0">
                <a:solidFill>
                  <a:srgbClr val="FFFFFF"/>
                </a:solidFill>
              </a:rPr>
              <a:t>2-</a:t>
            </a:r>
            <a:r>
              <a:rPr lang="ru-RU" altLang="zh-CN" sz="3600" b="1" kern="0" dirty="0">
                <a:solidFill>
                  <a:srgbClr val="FFFFFF"/>
                </a:solidFill>
              </a:rPr>
              <a:t>7</a:t>
            </a:r>
            <a:r>
              <a:rPr lang="zh-CN" altLang="en-US" sz="3600" b="1" kern="0" dirty="0">
                <a:solidFill>
                  <a:srgbClr val="FFFFFF"/>
                </a:solidFill>
              </a:rPr>
              <a:t>、</a:t>
            </a:r>
            <a:r>
              <a:rPr lang="en-US" altLang="zh-CN" sz="3600" b="1" kern="0" dirty="0">
                <a:solidFill>
                  <a:srgbClr val="FFFFFF"/>
                </a:solidFill>
              </a:rPr>
              <a:t> </a:t>
            </a:r>
            <a:r>
              <a:rPr lang="ru-RU" altLang="zh-CN" sz="3600" b="1" kern="0" dirty="0">
                <a:solidFill>
                  <a:srgbClr val="FFFFFF"/>
                </a:solidFill>
              </a:rPr>
              <a:t>2-2</a:t>
            </a:r>
            <a:r>
              <a:rPr lang="en-US" altLang="zh-CN" sz="3600" b="1" kern="0" dirty="0">
                <a:solidFill>
                  <a:srgbClr val="FFFFFF"/>
                </a:solidFill>
              </a:rPr>
              <a:t>1</a:t>
            </a:r>
            <a:r>
              <a:rPr lang="zh-CN" altLang="en-US" sz="3600" b="1" kern="0" dirty="0">
                <a:solidFill>
                  <a:srgbClr val="FFFFFF"/>
                </a:solidFill>
              </a:rPr>
              <a:t>、</a:t>
            </a:r>
            <a:r>
              <a:rPr lang="en-US" altLang="zh-CN" sz="3600" b="1" kern="0" dirty="0">
                <a:solidFill>
                  <a:srgbClr val="FFFFFF"/>
                </a:solidFill>
              </a:rPr>
              <a:t>2-22</a:t>
            </a:r>
            <a:r>
              <a:rPr lang="zh-CN" altLang="en-US" sz="3600" b="1" kern="0" dirty="0">
                <a:solidFill>
                  <a:srgbClr val="FFFFFF"/>
                </a:solidFill>
              </a:rPr>
              <a:t>，下周一上课时课代表收齐交给助教。</a:t>
            </a:r>
          </a:p>
          <a:p>
            <a:pPr marL="803275" indent="-803275" defTabSz="914400">
              <a:defRPr/>
            </a:pPr>
            <a:r>
              <a:rPr lang="zh-CN" altLang="en-US" sz="3600" b="1" kern="0" dirty="0">
                <a:solidFill>
                  <a:srgbClr val="FFFFFF"/>
                </a:solidFill>
              </a:rPr>
              <a:t>（</a:t>
            </a:r>
            <a:r>
              <a:rPr lang="en-US" altLang="zh-CN" sz="3600" b="1" kern="0" dirty="0">
                <a:solidFill>
                  <a:srgbClr val="FFFFFF"/>
                </a:solidFill>
              </a:rPr>
              <a:t>3</a:t>
            </a:r>
            <a:r>
              <a:rPr lang="zh-CN" altLang="en-US" sz="3600" b="1" kern="0" dirty="0">
                <a:solidFill>
                  <a:srgbClr val="FFFFFF"/>
                </a:solidFill>
              </a:rPr>
              <a:t>）</a:t>
            </a:r>
            <a:r>
              <a:rPr lang="zh-CN" altLang="en-US" sz="3600" b="1" kern="0" dirty="0">
                <a:solidFill>
                  <a:srgbClr val="FF0000"/>
                </a:solidFill>
              </a:rPr>
              <a:t>预习</a:t>
            </a:r>
            <a:r>
              <a:rPr lang="zh-CN" altLang="en-US" sz="3600" b="1" kern="0" dirty="0">
                <a:solidFill>
                  <a:srgbClr val="FFFFFF"/>
                </a:solidFill>
              </a:rPr>
              <a:t>后续章节。</a:t>
            </a:r>
            <a:endParaRPr lang="en-US" altLang="zh-CN" sz="3600" b="1" kern="0" dirty="0">
              <a:solidFill>
                <a:srgbClr val="FFFFFF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推力室的比冲量（简称比冲）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2.2 </a:t>
            </a:r>
            <a:r>
              <a:rPr lang="zh-CN" altLang="en-US" sz="4000" dirty="0">
                <a:solidFill>
                  <a:srgbClr val="FFFF00"/>
                </a:solidFill>
              </a:rPr>
              <a:t>推力室的总冲和比冲</a:t>
            </a:r>
          </a:p>
        </p:txBody>
      </p:sp>
      <p:sp>
        <p:nvSpPr>
          <p:cNvPr id="23" name="object 2"/>
          <p:cNvSpPr txBox="1"/>
          <p:nvPr/>
        </p:nvSpPr>
        <p:spPr>
          <a:xfrm>
            <a:off x="457200" y="1537198"/>
            <a:ext cx="2209800" cy="44861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8518" rIns="0" bIns="0" rtlCol="0">
            <a:spAutoFit/>
          </a:bodyPr>
          <a:lstStyle/>
          <a:p>
            <a:pPr marL="353060" indent="-342900">
              <a:spcBef>
                <a:spcPts val="820"/>
              </a:spcBef>
              <a:buFont typeface="Wingdings" panose="05000000000000000000" pitchFamily="2" charset="2"/>
              <a:buChar char="n"/>
            </a:pPr>
            <a:r>
              <a:rPr lang="zh-CN" altLang="en-US" sz="2400" spc="-8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推力室的比冲</a:t>
            </a:r>
            <a:endParaRPr sz="1600" dirty="0"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/>
            </a:endParaRPr>
          </a:p>
        </p:txBody>
      </p:sp>
      <p:sp>
        <p:nvSpPr>
          <p:cNvPr id="24" name="object 6"/>
          <p:cNvSpPr txBox="1"/>
          <p:nvPr/>
        </p:nvSpPr>
        <p:spPr>
          <a:xfrm>
            <a:off x="3858197" y="5573391"/>
            <a:ext cx="61472" cy="8647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5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4724401" y="2221375"/>
            <a:ext cx="810197" cy="406400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object 2"/>
          <p:cNvSpPr txBox="1"/>
          <p:nvPr/>
        </p:nvSpPr>
        <p:spPr>
          <a:xfrm>
            <a:off x="469605" y="2541733"/>
            <a:ext cx="2566633" cy="44861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8518" rIns="0" bIns="0" rtlCol="0">
            <a:spAutoFit/>
          </a:bodyPr>
          <a:lstStyle/>
          <a:p>
            <a:pPr marL="353060" indent="-342900">
              <a:spcBef>
                <a:spcPts val="820"/>
              </a:spcBef>
              <a:buFont typeface="Wingdings" panose="05000000000000000000" pitchFamily="2" charset="2"/>
              <a:buChar char="n"/>
            </a:pPr>
            <a:r>
              <a:rPr lang="zh-CN" altLang="en-US" sz="2400" spc="-8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推力室的比推力</a:t>
            </a:r>
            <a:endParaRPr sz="1600" dirty="0"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200400" y="2541733"/>
          <a:ext cx="990600" cy="91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2" imgW="482600" imgH="393700" progId="Equation.3">
                  <p:embed/>
                </p:oleObj>
              </mc:Choice>
              <mc:Fallback>
                <p:oleObj name="Microsoft 公式 3.0" r:id="rId2" imgW="482600" imgH="393700" progId="Equation.3">
                  <p:embed/>
                  <p:pic>
                    <p:nvPicPr>
                      <p:cNvPr id="0" name="图片 124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41733"/>
                        <a:ext cx="990600" cy="91643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5715000" y="2135332"/>
            <a:ext cx="1107996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两式等价</a:t>
            </a:r>
          </a:p>
        </p:txBody>
      </p:sp>
      <p:sp>
        <p:nvSpPr>
          <p:cNvPr id="29" name="矩形 28"/>
          <p:cNvSpPr/>
          <p:nvPr/>
        </p:nvSpPr>
        <p:spPr>
          <a:xfrm>
            <a:off x="838200" y="3851203"/>
            <a:ext cx="1499128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真空比冲</a:t>
            </a:r>
          </a:p>
        </p:txBody>
      </p:sp>
      <p:sp>
        <p:nvSpPr>
          <p:cNvPr id="30" name="矩形 29"/>
          <p:cNvSpPr/>
          <p:nvPr/>
        </p:nvSpPr>
        <p:spPr>
          <a:xfrm>
            <a:off x="845288" y="4700732"/>
            <a:ext cx="2582758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设计工况时的比冲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565799" y="4572000"/>
          <a:ext cx="1107022" cy="650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2" imgW="558800" imgH="241300" progId="Equation.3">
                  <p:embed/>
                </p:oleObj>
              </mc:Choice>
              <mc:Fallback>
                <p:oleObj name="Microsoft 公式 3.0" r:id="rId2" imgW="558800" imgH="241300" progId="Equation.3">
                  <p:embed/>
                  <p:pic>
                    <p:nvPicPr>
                      <p:cNvPr id="0" name="图片 124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799" y="4572000"/>
                        <a:ext cx="1107022" cy="65045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838200" y="5343670"/>
            <a:ext cx="2198038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高度</a:t>
            </a:r>
            <a:r>
              <a:rPr lang="en-US" altLang="zh-CN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处的比冲</a:t>
            </a:r>
          </a:p>
        </p:txBody>
      </p:sp>
      <p:sp>
        <p:nvSpPr>
          <p:cNvPr id="33" name="矩形 32"/>
          <p:cNvSpPr/>
          <p:nvPr/>
        </p:nvSpPr>
        <p:spPr>
          <a:xfrm>
            <a:off x="396683" y="6148532"/>
            <a:ext cx="4222181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353060" indent="-342900">
              <a:spcBef>
                <a:spcPts val="820"/>
              </a:spcBef>
              <a:buFont typeface="Wingdings" panose="05000000000000000000" pitchFamily="2" charset="2"/>
              <a:buChar char="n"/>
            </a:pPr>
            <a:r>
              <a:rPr lang="zh-CN" altLang="en-US" sz="2400" spc="-8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比冲与等效喷气速度的关系</a:t>
            </a:r>
            <a:endParaRPr lang="zh-CN" altLang="en-US" sz="1600" dirty="0"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4747385" y="6159800"/>
          <a:ext cx="787212" cy="54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2" imgW="482600" imgH="241300" progId="Equation.3">
                  <p:embed/>
                </p:oleObj>
              </mc:Choice>
              <mc:Fallback>
                <p:oleObj name="Microsoft 公式 3.0" r:id="rId2" imgW="482600" imgH="241300" progId="Equation.3">
                  <p:embed/>
                  <p:pic>
                    <p:nvPicPr>
                      <p:cNvPr id="0" name="图片 124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385" y="6159800"/>
                        <a:ext cx="787212" cy="5458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6282415" y="6210086"/>
            <a:ext cx="2492990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等效喷气速度的重要性</a:t>
            </a:r>
          </a:p>
        </p:txBody>
      </p:sp>
      <p:sp>
        <p:nvSpPr>
          <p:cNvPr id="36" name="右箭头 35"/>
          <p:cNvSpPr/>
          <p:nvPr/>
        </p:nvSpPr>
        <p:spPr>
          <a:xfrm>
            <a:off x="5715001" y="6248400"/>
            <a:ext cx="496887" cy="406400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30992" y="3877876"/>
            <a:ext cx="1755609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海平面比冲</a:t>
            </a: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036238" y="1459374"/>
          <a:ext cx="10795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8000" imgH="444500" progId="Equation.DSMT4">
                  <p:embed/>
                </p:oleObj>
              </mc:Choice>
              <mc:Fallback>
                <p:oleObj name="Equation" r:id="rId2" imgW="508000" imgH="444500" progId="Equation.DSMT4">
                  <p:embed/>
                  <p:pic>
                    <p:nvPicPr>
                      <p:cNvPr id="0" name="图片 124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238" y="1459374"/>
                        <a:ext cx="1079500" cy="9413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291975" y="5310332"/>
          <a:ext cx="2403975" cy="68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65" imgH="393700" progId="Equation.DSMT4">
                  <p:embed/>
                </p:oleObj>
              </mc:Choice>
              <mc:Fallback>
                <p:oleObj name="Equation" r:id="rId2" imgW="1396365" imgH="393700" progId="Equation.DSMT4">
                  <p:embed/>
                  <p:pic>
                    <p:nvPicPr>
                      <p:cNvPr id="0" name="图片 124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975" y="5310332"/>
                        <a:ext cx="2403975" cy="6868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435540" y="3652627"/>
          <a:ext cx="2693959" cy="850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393700" progId="Equation.DSMT4">
                  <p:embed/>
                </p:oleObj>
              </mc:Choice>
              <mc:Fallback>
                <p:oleObj name="Equation" r:id="rId2" imgW="1282700" imgH="393700" progId="Equation.DSMT4">
                  <p:embed/>
                  <p:pic>
                    <p:nvPicPr>
                      <p:cNvPr id="0" name="图片 124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540" y="3652627"/>
                        <a:ext cx="2693959" cy="85060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305675" y="3667800"/>
          <a:ext cx="1228725" cy="954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154400" imgH="9448800" progId="Equation.3">
                  <p:embed/>
                </p:oleObj>
              </mc:Choice>
              <mc:Fallback>
                <p:oleObj r:id="rId2" imgW="16154400" imgH="9448800" progId="Equation.3">
                  <p:embed/>
                  <p:pic>
                    <p:nvPicPr>
                      <p:cNvPr id="0" name="图片 124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3667800"/>
                        <a:ext cx="1228725" cy="95461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86E8E80D-5DC8-EAA5-3B32-92F3A326D521}"/>
              </a:ext>
            </a:extLst>
          </p:cNvPr>
          <p:cNvSpPr/>
          <p:nvPr/>
        </p:nvSpPr>
        <p:spPr bwMode="auto">
          <a:xfrm>
            <a:off x="609600" y="2297967"/>
            <a:ext cx="7467600" cy="2626752"/>
          </a:xfrm>
          <a:prstGeom prst="cloudCallout">
            <a:avLst>
              <a:gd name="adj1" fmla="val -51723"/>
              <a:gd name="adj2" fmla="val -10948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回顾上节课，提出问题：观察天安门阅兵式，为什么导弹方阵中越是后面出场的导弹个头（直径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+</a:t>
            </a:r>
            <a:r>
              <a:rPr lang="zh-CN" altLang="en-US" sz="24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长度）越大？对固体导弹和液体导弹，这种“大”又分别体现在哪个方面呢？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00CC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0678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sz="3600" b="1" dirty="0"/>
              <a:t> </a:t>
            </a:r>
            <a:r>
              <a:rPr lang="zh-CN" altLang="en-US" sz="3600" b="1" dirty="0"/>
              <a:t>推力室的比冲量（简称比冲）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2.2 </a:t>
            </a:r>
            <a:r>
              <a:rPr lang="zh-CN" altLang="en-US" sz="4000" dirty="0">
                <a:solidFill>
                  <a:srgbClr val="FFFF00"/>
                </a:solidFill>
              </a:rPr>
              <a:t>推力室的总冲和比冲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14830" y="1689318"/>
            <a:ext cx="84005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推力室比冲是火箭发动机最重要的性能指标</a:t>
            </a:r>
            <a:r>
              <a:rPr lang="zh-CN" altLang="en-US" sz="2800" dirty="0">
                <a:latin typeface="+mn-ea"/>
              </a:rPr>
              <a:t>，用来评定不同发动机研制水平的高低。</a:t>
            </a:r>
            <a:endParaRPr lang="en-US" altLang="zh-CN" sz="280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比冲主要取决于推进剂本身能量的高低</a:t>
            </a:r>
            <a:r>
              <a:rPr lang="zh-CN" altLang="en-US" sz="2800" dirty="0">
                <a:latin typeface="+mn-ea"/>
              </a:rPr>
              <a:t>，也与推力室工作过程的完善程度有关。</a:t>
            </a:r>
          </a:p>
        </p:txBody>
      </p:sp>
      <p:sp>
        <p:nvSpPr>
          <p:cNvPr id="44" name="矩形 43"/>
          <p:cNvSpPr/>
          <p:nvPr/>
        </p:nvSpPr>
        <p:spPr>
          <a:xfrm>
            <a:off x="498265" y="3808869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n-ea"/>
              </a:rPr>
              <a:t>现代固发推力室的实际比冲在</a:t>
            </a:r>
            <a:r>
              <a:rPr lang="en-US" altLang="zh-CN" sz="2800" dirty="0">
                <a:latin typeface="+mn-ea"/>
              </a:rPr>
              <a:t>2100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 dirty="0">
                <a:latin typeface="+mn-ea"/>
              </a:rPr>
              <a:t>2600m/s</a:t>
            </a:r>
            <a:r>
              <a:rPr lang="zh-CN" altLang="en-US" sz="2800" dirty="0">
                <a:latin typeface="+mn-ea"/>
              </a:rPr>
              <a:t>之间。</a:t>
            </a:r>
            <a:endParaRPr lang="en-US" altLang="zh-CN" sz="280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n-ea"/>
              </a:rPr>
              <a:t>现代液发推力室，当采用常规推进剂时，比冲一般在</a:t>
            </a:r>
            <a:r>
              <a:rPr lang="en-US" altLang="zh-CN" sz="2800" dirty="0">
                <a:latin typeface="+mn-ea"/>
              </a:rPr>
              <a:t>2500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800" dirty="0">
                <a:latin typeface="+mn-ea"/>
              </a:rPr>
              <a:t>3300m/s</a:t>
            </a:r>
            <a:r>
              <a:rPr lang="zh-CN" altLang="en-US" sz="2800" dirty="0">
                <a:latin typeface="+mn-ea"/>
              </a:rPr>
              <a:t>之间；当采用高能推进剂时，比冲可达到</a:t>
            </a:r>
            <a:r>
              <a:rPr lang="en-US" altLang="zh-CN" sz="2800" dirty="0">
                <a:latin typeface="+mn-ea"/>
              </a:rPr>
              <a:t>4000m/s</a:t>
            </a:r>
            <a:r>
              <a:rPr lang="zh-CN" altLang="en-US" sz="2800" dirty="0">
                <a:latin typeface="+mn-ea"/>
              </a:rPr>
              <a:t>或更高。例如，美国航天飞机主发动机（</a:t>
            </a:r>
            <a:r>
              <a:rPr lang="en-US" altLang="zh-CN" sz="2800" dirty="0">
                <a:latin typeface="+mn-ea"/>
              </a:rPr>
              <a:t>SSME</a:t>
            </a:r>
            <a:r>
              <a:rPr lang="zh-CN" altLang="en-US" sz="2800" dirty="0">
                <a:latin typeface="+mn-ea"/>
              </a:rPr>
              <a:t>）的真空比冲为</a:t>
            </a:r>
            <a:r>
              <a:rPr lang="en-US" altLang="zh-CN" sz="2800" dirty="0">
                <a:latin typeface="+mn-ea"/>
              </a:rPr>
              <a:t>4464m/s</a:t>
            </a:r>
            <a:r>
              <a:rPr lang="zh-CN" altLang="en-US" sz="2800" dirty="0">
                <a:latin typeface="+mn-ea"/>
              </a:rPr>
              <a:t>，地面比冲为</a:t>
            </a:r>
            <a:r>
              <a:rPr lang="en-US" altLang="zh-CN" sz="2800" dirty="0">
                <a:latin typeface="+mn-ea"/>
              </a:rPr>
              <a:t>3562m/s</a:t>
            </a:r>
            <a:r>
              <a:rPr lang="zh-CN" altLang="en-US" sz="2800" dirty="0">
                <a:latin typeface="+mn-ea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2.3 </a:t>
            </a:r>
            <a:r>
              <a:rPr lang="zh-CN" altLang="en-US" sz="4000" dirty="0">
                <a:solidFill>
                  <a:srgbClr val="FFFF00"/>
                </a:solidFill>
              </a:rPr>
              <a:t>推力室的喷气速度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rocket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566" y="1098416"/>
            <a:ext cx="5334947" cy="40012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6084C6-750D-3ADE-DEA7-9470A367F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066800"/>
            <a:ext cx="3199453" cy="159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/>
              <a:t>理想推力室概念</a:t>
            </a:r>
            <a:endParaRPr lang="en-US" altLang="zh-CN" sz="2800" b="1" kern="0" dirty="0"/>
          </a:p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>
                <a:cs typeface="Arial" panose="020B0604020202020204" pitchFamily="34" charset="0"/>
              </a:rPr>
              <a:t>热能向动能的转换</a:t>
            </a:r>
            <a:endParaRPr lang="en-US" altLang="zh-CN" sz="2800" b="1" kern="0" dirty="0">
              <a:cs typeface="Arial" panose="020B0604020202020204" pitchFamily="34" charset="0"/>
            </a:endParaRPr>
          </a:p>
        </p:txBody>
      </p:sp>
      <p:sp>
        <p:nvSpPr>
          <p:cNvPr id="5" name="对话气泡: 椭圆形 4">
            <a:extLst>
              <a:ext uri="{FF2B5EF4-FFF2-40B4-BE49-F238E27FC236}">
                <a16:creationId xmlns:a16="http://schemas.microsoft.com/office/drawing/2014/main" id="{1A0BED67-2FDA-07DD-9355-C57E6CAC6A6A}"/>
              </a:ext>
            </a:extLst>
          </p:cNvPr>
          <p:cNvSpPr/>
          <p:nvPr/>
        </p:nvSpPr>
        <p:spPr bwMode="auto">
          <a:xfrm>
            <a:off x="6019800" y="2509488"/>
            <a:ext cx="2743200" cy="1595088"/>
          </a:xfrm>
          <a:prstGeom prst="wedgeEllipseCallout">
            <a:avLst>
              <a:gd name="adj1" fmla="val -71014"/>
              <a:gd name="adj2" fmla="val 3944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求速度用什么守恒定律？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7A80F0-3E1A-0A95-55AC-5B124C764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FE602B4-B824-72AE-8666-10397C810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8288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500" imgH="723900" progId="Equation.DSMT4">
                  <p:embed/>
                </p:oleObj>
              </mc:Choice>
              <mc:Fallback>
                <p:oleObj name="Equation" r:id="rId5" imgW="1841500" imgH="7239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82880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21A09857-30DE-08BC-12FE-FEB1392159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7853" y="4800600"/>
            <a:ext cx="3276600" cy="1250937"/>
          </a:xfrm>
          <a:prstGeom prst="rect">
            <a:avLst/>
          </a:prstGeom>
        </p:spPr>
      </p:pic>
      <p:sp>
        <p:nvSpPr>
          <p:cNvPr id="13" name="箭头: 下 12">
            <a:extLst>
              <a:ext uri="{FF2B5EF4-FFF2-40B4-BE49-F238E27FC236}">
                <a16:creationId xmlns:a16="http://schemas.microsoft.com/office/drawing/2014/main" id="{ED7D524E-FBFD-D96B-867A-B586863F558C}"/>
              </a:ext>
            </a:extLst>
          </p:cNvPr>
          <p:cNvSpPr/>
          <p:nvPr/>
        </p:nvSpPr>
        <p:spPr bwMode="auto">
          <a:xfrm>
            <a:off x="7315200" y="4267200"/>
            <a:ext cx="228600" cy="34676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FAD255-E91E-3326-D4BC-2691D2132253}"/>
              </a:ext>
            </a:extLst>
          </p:cNvPr>
          <p:cNvSpPr/>
          <p:nvPr/>
        </p:nvSpPr>
        <p:spPr bwMode="auto">
          <a:xfrm>
            <a:off x="7467600" y="4953000"/>
            <a:ext cx="1219200" cy="990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01A45A-D2E9-7F91-A3ED-3E64BFD8E71D}"/>
              </a:ext>
            </a:extLst>
          </p:cNvPr>
          <p:cNvSpPr txBox="1"/>
          <p:nvPr/>
        </p:nvSpPr>
        <p:spPr>
          <a:xfrm>
            <a:off x="5791200" y="6318185"/>
            <a:ext cx="198120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 defTabSz="914400"/>
            <a:r>
              <a:rPr lang="zh-CN" altLang="en-US" sz="2000" b="1" kern="0" dirty="0">
                <a:solidFill>
                  <a:srgbClr val="FF0000"/>
                </a:solidFill>
              </a:rPr>
              <a:t>推力室的热效率</a:t>
            </a:r>
            <a:endParaRPr lang="en-US" altLang="zh-CN" sz="2000" b="1" kern="0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F707BA9-BE1E-D890-09CD-1BC8CC7AA04F}"/>
              </a:ext>
            </a:extLst>
          </p:cNvPr>
          <p:cNvCxnSpPr>
            <a:stCxn id="18" idx="3"/>
          </p:cNvCxnSpPr>
          <p:nvPr/>
        </p:nvCxnSpPr>
        <p:spPr bwMode="auto">
          <a:xfrm flipV="1">
            <a:off x="7772400" y="5938488"/>
            <a:ext cx="304800" cy="579752"/>
          </a:xfrm>
          <a:prstGeom prst="straightConnector1">
            <a:avLst/>
          </a:prstGeom>
          <a:noFill/>
          <a:ln w="31750">
            <a:solidFill>
              <a:srgbClr val="FF0000"/>
            </a:solidFill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7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6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2.4 </a:t>
            </a:r>
            <a:r>
              <a:rPr lang="zh-CN" altLang="en-US" sz="4000" dirty="0">
                <a:solidFill>
                  <a:srgbClr val="FFFF00"/>
                </a:solidFill>
              </a:rPr>
              <a:t>推力室的质量流量和特征速度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Rocket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" y="1236405"/>
            <a:ext cx="5105400" cy="3829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E5DD9B-341F-8273-0320-A8F481AC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426" y="1371600"/>
            <a:ext cx="3199453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/>
              <a:t>理想推力室</a:t>
            </a:r>
            <a:endParaRPr lang="en-US" altLang="zh-CN" sz="2800" b="1" kern="0" dirty="0"/>
          </a:p>
        </p:txBody>
      </p:sp>
      <p:sp>
        <p:nvSpPr>
          <p:cNvPr id="5" name="对话气泡: 椭圆形 4">
            <a:extLst>
              <a:ext uri="{FF2B5EF4-FFF2-40B4-BE49-F238E27FC236}">
                <a16:creationId xmlns:a16="http://schemas.microsoft.com/office/drawing/2014/main" id="{A3DDC580-A935-EB56-A2C0-F344CE69087B}"/>
              </a:ext>
            </a:extLst>
          </p:cNvPr>
          <p:cNvSpPr/>
          <p:nvPr/>
        </p:nvSpPr>
        <p:spPr bwMode="auto">
          <a:xfrm>
            <a:off x="6019799" y="2286000"/>
            <a:ext cx="2856079" cy="1595088"/>
          </a:xfrm>
          <a:prstGeom prst="wedgeEllipseCallout">
            <a:avLst>
              <a:gd name="adj1" fmla="val -71014"/>
              <a:gd name="adj2" fmla="val 3944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求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质量流量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速度用什么守恒定律？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BB6E20D-D006-A47A-B44F-8DC427DD6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495800"/>
            <a:ext cx="2380829" cy="881041"/>
          </a:xfrm>
          <a:prstGeom prst="rect">
            <a:avLst/>
          </a:prstGeom>
        </p:spPr>
      </p:pic>
      <p:sp>
        <p:nvSpPr>
          <p:cNvPr id="11" name="箭头: 下 10">
            <a:extLst>
              <a:ext uri="{FF2B5EF4-FFF2-40B4-BE49-F238E27FC236}">
                <a16:creationId xmlns:a16="http://schemas.microsoft.com/office/drawing/2014/main" id="{C90195EA-2663-5483-7DF8-963D26F60452}"/>
              </a:ext>
            </a:extLst>
          </p:cNvPr>
          <p:cNvSpPr/>
          <p:nvPr/>
        </p:nvSpPr>
        <p:spPr bwMode="auto">
          <a:xfrm>
            <a:off x="7333538" y="4015063"/>
            <a:ext cx="228600" cy="34676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8456372-7D7E-7026-F682-EB5F01A7D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42" y="5562600"/>
            <a:ext cx="1895143" cy="103247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42C8FF7-AC76-7B4B-9C8F-ED229E5798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0413" y="5215300"/>
            <a:ext cx="1579208" cy="817949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490EB29A-80DB-29C4-A863-31A92B856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813" y="5360130"/>
            <a:ext cx="2743200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/>
              <a:t>定义特征速度</a:t>
            </a:r>
            <a:endParaRPr lang="en-US" altLang="zh-CN" sz="2800" b="1" kern="0" dirty="0"/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2D3AA4D1-18B8-A3D0-1382-2C3BE6945E2F}"/>
              </a:ext>
            </a:extLst>
          </p:cNvPr>
          <p:cNvSpPr/>
          <p:nvPr/>
        </p:nvSpPr>
        <p:spPr bwMode="auto">
          <a:xfrm>
            <a:off x="5066014" y="5334755"/>
            <a:ext cx="914400" cy="45569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B1B4AC1-5991-9C90-70E2-16DA33045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813" y="6173906"/>
            <a:ext cx="3438637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/>
              <a:t>定义液发混合比</a:t>
            </a:r>
            <a:r>
              <a:rPr lang="en-US" altLang="zh-CN" sz="2800" b="1" kern="0" dirty="0"/>
              <a:t>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8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4" grpId="0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2.5 </a:t>
            </a:r>
            <a:r>
              <a:rPr lang="zh-CN" altLang="en-US" sz="4000" dirty="0">
                <a:solidFill>
                  <a:srgbClr val="FFFF00"/>
                </a:solidFill>
              </a:rPr>
              <a:t>推力系数和最大理想推力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rocket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1235783"/>
            <a:ext cx="4724400" cy="333621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5D8E71C-1414-C714-2DAA-03FE04CC0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426" y="1390375"/>
            <a:ext cx="3199453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Arial" panose="020B0604020202020204" pitchFamily="34" charset="0"/>
              <a:buChar char="•"/>
            </a:pPr>
            <a:r>
              <a:rPr lang="zh-CN" altLang="en-US" sz="2800" b="1" kern="0" dirty="0"/>
              <a:t>理想推力室</a:t>
            </a:r>
            <a:endParaRPr lang="en-US" altLang="zh-CN" sz="2800" b="1" kern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C887A-9CEB-7E5E-0858-FD22E8BB8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2170320"/>
            <a:ext cx="1714974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defTabSz="914400">
              <a:buNone/>
            </a:pPr>
            <a:r>
              <a:rPr lang="zh-CN" altLang="en-US" sz="2800" b="1" kern="0" dirty="0"/>
              <a:t>推力公式</a:t>
            </a:r>
            <a:endParaRPr lang="en-US" altLang="zh-CN" sz="2800" b="1" kern="0" dirty="0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DBBAECED-AE8D-6739-EEA3-6A4B0AF0985B}"/>
              </a:ext>
            </a:extLst>
          </p:cNvPr>
          <p:cNvSpPr/>
          <p:nvPr/>
        </p:nvSpPr>
        <p:spPr bwMode="auto">
          <a:xfrm>
            <a:off x="6960376" y="2950265"/>
            <a:ext cx="228600" cy="34676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C7E298-DB96-D74A-2423-D41258FE5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4034719"/>
            <a:ext cx="1323616" cy="87769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AB6494D-EB7F-D74B-4AE9-2867D4BD0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3401728"/>
            <a:ext cx="2362201" cy="52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defTabSz="914400">
              <a:buNone/>
            </a:pPr>
            <a:r>
              <a:rPr lang="zh-CN" altLang="en-US" sz="2800" b="1" kern="0" dirty="0"/>
              <a:t>定义推力系数</a:t>
            </a:r>
            <a:endParaRPr lang="en-US" altLang="zh-CN" sz="2800" b="1" kern="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3161D8-2F68-4713-B6BA-D6B01BADC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3312" y="5266006"/>
            <a:ext cx="3854127" cy="9762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B01FF6-D684-1AA2-FFBF-91475D125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03" y="5266006"/>
            <a:ext cx="3352800" cy="150096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E75932B-2FA3-A13D-C867-0C9E56AC33CE}"/>
              </a:ext>
            </a:extLst>
          </p:cNvPr>
          <p:cNvSpPr/>
          <p:nvPr/>
        </p:nvSpPr>
        <p:spPr bwMode="auto">
          <a:xfrm>
            <a:off x="7609573" y="5530216"/>
            <a:ext cx="305274" cy="5657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normalizeH="0" baseline="0">
              <a:ln>
                <a:noFill/>
              </a:ln>
              <a:solidFill>
                <a:srgbClr val="F0E500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34A1089-0984-AC91-F691-4E3F96EC7D48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 bwMode="auto">
          <a:xfrm flipV="1">
            <a:off x="3671503" y="5813108"/>
            <a:ext cx="3938070" cy="203380"/>
          </a:xfrm>
          <a:prstGeom prst="straightConnector1">
            <a:avLst/>
          </a:prstGeom>
          <a:noFill/>
          <a:ln w="31750">
            <a:solidFill>
              <a:srgbClr val="FF0000"/>
            </a:solidFill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587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41" fill="remove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4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2.5 </a:t>
            </a:r>
            <a:r>
              <a:rPr lang="zh-CN" altLang="en-US" sz="4000" dirty="0">
                <a:solidFill>
                  <a:srgbClr val="FFFF00"/>
                </a:solidFill>
              </a:rPr>
              <a:t>推力系数和最大理想推力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1219200"/>
            <a:ext cx="906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3600" b="1" dirty="0"/>
              <a:t> 理想推力系数的变化曲线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2" t="18080" r="49260" b="27154"/>
          <a:stretch>
            <a:fillRect/>
          </a:stretch>
        </p:blipFill>
        <p:spPr bwMode="auto">
          <a:xfrm>
            <a:off x="180963" y="1981200"/>
            <a:ext cx="4352938" cy="403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4" t="72079" r="51305" b="17838"/>
          <a:stretch>
            <a:fillRect/>
          </a:stretch>
        </p:blipFill>
        <p:spPr bwMode="auto">
          <a:xfrm>
            <a:off x="852609" y="6096000"/>
            <a:ext cx="2834390" cy="624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9" t="18080" r="9634" b="26987"/>
          <a:stretch>
            <a:fillRect/>
          </a:stretch>
        </p:blipFill>
        <p:spPr bwMode="auto">
          <a:xfrm>
            <a:off x="4697093" y="1981200"/>
            <a:ext cx="4294507" cy="403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8" t="72442" r="10685" b="19654"/>
          <a:stretch>
            <a:fillRect/>
          </a:stretch>
        </p:blipFill>
        <p:spPr bwMode="auto">
          <a:xfrm>
            <a:off x="5610708" y="6172200"/>
            <a:ext cx="2913683" cy="48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2.5 </a:t>
            </a:r>
            <a:r>
              <a:rPr lang="zh-CN" altLang="en-US" sz="4000" dirty="0">
                <a:solidFill>
                  <a:srgbClr val="FFFF00"/>
                </a:solidFill>
              </a:rPr>
              <a:t>推力系数和最大理想推力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1219200"/>
            <a:ext cx="906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3600" b="1" dirty="0"/>
              <a:t> 高度特性的利用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可延伸喷管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3"/>
          <a:stretch>
            <a:fillRect/>
          </a:stretch>
        </p:blipFill>
        <p:spPr bwMode="auto">
          <a:xfrm>
            <a:off x="533400" y="3203210"/>
            <a:ext cx="2248374" cy="345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41"/>
          <a:stretch>
            <a:fillRect/>
          </a:stretch>
        </p:blipFill>
        <p:spPr bwMode="auto">
          <a:xfrm>
            <a:off x="5740098" y="1858976"/>
            <a:ext cx="2606507" cy="4812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4103687" y="4688738"/>
            <a:ext cx="936625" cy="480484"/>
          </a:xfrm>
          <a:prstGeom prst="rightArrow">
            <a:avLst>
              <a:gd name="adj1" fmla="val 50000"/>
              <a:gd name="adj2" fmla="val 64978"/>
            </a:avLst>
          </a:prstGeom>
          <a:solidFill>
            <a:srgbClr val="003399"/>
          </a:solidFill>
          <a:ln w="9525">
            <a:solidFill>
              <a:srgbClr val="FFFFFF"/>
            </a:solidFill>
            <a:miter lim="800000"/>
          </a:ln>
        </p:spPr>
        <p:txBody>
          <a:bodyPr wrap="none" anchor="ctr"/>
          <a:lstStyle>
            <a:lvl1pPr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defTabSz="914400" eaLnBrk="1" hangingPunct="1">
              <a:defRPr/>
            </a:pPr>
            <a:endParaRPr lang="zh-CN" altLang="en-US" kern="0"/>
          </a:p>
        </p:txBody>
      </p:sp>
      <p:sp>
        <p:nvSpPr>
          <p:cNvPr id="16" name="矩形 15"/>
          <p:cNvSpPr/>
          <p:nvPr/>
        </p:nvSpPr>
        <p:spPr>
          <a:xfrm>
            <a:off x="1989343" y="2239282"/>
            <a:ext cx="3199915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kern="0" dirty="0">
                <a:solidFill>
                  <a:prstClr val="black"/>
                </a:solidFill>
                <a:latin typeface="Arial" panose="020B0604020202020204"/>
                <a:ea typeface="黑体" panose="02010609060101010101" pitchFamily="2" charset="-122"/>
              </a:rPr>
              <a:t>RL60</a:t>
            </a:r>
            <a:r>
              <a:rPr lang="zh-CN" altLang="en-US" sz="2800" kern="0" dirty="0">
                <a:solidFill>
                  <a:prstClr val="black"/>
                </a:solidFill>
                <a:latin typeface="Arial" panose="020B0604020202020204"/>
                <a:ea typeface="黑体" panose="02010609060101010101" pitchFamily="2" charset="-122"/>
              </a:rPr>
              <a:t>发动机（美）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2.5 </a:t>
            </a:r>
            <a:r>
              <a:rPr lang="zh-CN" altLang="en-US" sz="4000" dirty="0">
                <a:solidFill>
                  <a:srgbClr val="FFFF00"/>
                </a:solidFill>
              </a:rPr>
              <a:t>推力系数和最大理想推力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1219200"/>
            <a:ext cx="906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anose="05000000000000000000" pitchFamily="2" charset="2"/>
              <a:buChar char="n"/>
            </a:pPr>
            <a:r>
              <a:rPr lang="zh-CN" altLang="en-US" sz="3600" b="1" dirty="0"/>
              <a:t> 高度特性的利用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塞式喷管</a:t>
            </a:r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/>
          </a:p>
          <a:p>
            <a:pPr algn="just">
              <a:buFont typeface="Wingdings" panose="05000000000000000000" pitchFamily="2" charset="2"/>
              <a:buChar char="n"/>
            </a:pPr>
            <a:endParaRPr lang="zh-CN" altLang="en-US" sz="3600" b="1" dirty="0">
              <a:cs typeface="Arial" panose="020B0604020202020204" pitchFamily="34" charset="0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4369809" cy="447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681" y="2010762"/>
            <a:ext cx="2474036" cy="217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681" y="4290565"/>
            <a:ext cx="2459250" cy="249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19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666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2.6 </a:t>
            </a:r>
            <a:r>
              <a:rPr lang="zh-CN" altLang="en-US" sz="4000" dirty="0">
                <a:solidFill>
                  <a:srgbClr val="FFFF00"/>
                </a:solidFill>
              </a:rPr>
              <a:t>推力室主要参数之间的关系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1219200"/>
            <a:ext cx="906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FFFFFF"/>
                </a:solidFill>
              </a:rPr>
              <a:t> </a:t>
            </a:r>
            <a:r>
              <a:rPr lang="zh-CN" altLang="en-US" b="1" dirty="0">
                <a:solidFill>
                  <a:srgbClr val="FFFFFF"/>
                </a:solidFill>
              </a:rPr>
              <a:t>诸参数之间的关系图</a:t>
            </a:r>
            <a:endParaRPr lang="zh-CN" altLang="en-US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89" y="1905000"/>
            <a:ext cx="7247329" cy="479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5400" dirty="0">
                <a:solidFill>
                  <a:srgbClr val="FFFF00"/>
                </a:solidFill>
              </a:rPr>
              <a:t>小作业（</a:t>
            </a:r>
            <a:r>
              <a:rPr lang="en-US" altLang="zh-CN" sz="5400" dirty="0">
                <a:solidFill>
                  <a:srgbClr val="FFFF00"/>
                </a:solidFill>
              </a:rPr>
              <a:t>3</a:t>
            </a:r>
            <a:r>
              <a:rPr lang="zh-CN" altLang="en-US" sz="5400" dirty="0">
                <a:solidFill>
                  <a:srgbClr val="FFFF00"/>
                </a:solidFill>
              </a:rPr>
              <a:t>）</a:t>
            </a:r>
            <a:r>
              <a:rPr lang="ru-RU" altLang="zh-CN" sz="5400" dirty="0">
                <a:solidFill>
                  <a:srgbClr val="FFFF00"/>
                </a:solidFill>
              </a:rPr>
              <a:t>202</a:t>
            </a:r>
            <a:r>
              <a:rPr lang="en-US" altLang="zh-CN" sz="5400" dirty="0">
                <a:solidFill>
                  <a:srgbClr val="FFFF00"/>
                </a:solidFill>
              </a:rPr>
              <a:t>6</a:t>
            </a:r>
            <a:r>
              <a:rPr lang="ru-RU" altLang="zh-CN" sz="5400" dirty="0">
                <a:solidFill>
                  <a:srgbClr val="FFFF00"/>
                </a:solidFill>
              </a:rPr>
              <a:t>.</a:t>
            </a:r>
            <a:r>
              <a:rPr lang="en-US" altLang="zh-CN" sz="5400" dirty="0">
                <a:solidFill>
                  <a:srgbClr val="FFFF00"/>
                </a:solidFill>
              </a:rPr>
              <a:t>9</a:t>
            </a:r>
            <a:r>
              <a:rPr lang="ru-RU" altLang="zh-CN" sz="5400" dirty="0">
                <a:solidFill>
                  <a:srgbClr val="FFFF00"/>
                </a:solidFill>
              </a:rPr>
              <a:t>.</a:t>
            </a:r>
            <a:r>
              <a:rPr lang="en-US" altLang="zh-CN" sz="5400" dirty="0">
                <a:solidFill>
                  <a:srgbClr val="FFFF00"/>
                </a:solidFill>
              </a:rPr>
              <a:t>14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8898" y="1399953"/>
            <a:ext cx="8816857" cy="286131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803275" lvl="0" indent="-803275" defTabSz="914400">
              <a:defRPr/>
            </a:pPr>
            <a:r>
              <a:rPr lang="zh-CN" altLang="en-US" sz="3600" b="1" kern="0" dirty="0"/>
              <a:t>（</a:t>
            </a:r>
            <a:r>
              <a:rPr lang="en-US" altLang="zh-CN" sz="3600" b="1" kern="0" dirty="0"/>
              <a:t>1</a:t>
            </a:r>
            <a:r>
              <a:rPr lang="zh-CN" altLang="en-US" sz="3600" b="1" kern="0" dirty="0"/>
              <a:t>）阅读教材，</a:t>
            </a:r>
            <a:r>
              <a:rPr lang="zh-CN" altLang="en-US" sz="3600" b="1" kern="0" dirty="0">
                <a:solidFill>
                  <a:srgbClr val="FF0000"/>
                </a:solidFill>
              </a:rPr>
              <a:t>复习</a:t>
            </a:r>
            <a:r>
              <a:rPr lang="zh-CN" altLang="en-US" sz="3600" b="1" kern="0" dirty="0"/>
              <a:t>已学内容。</a:t>
            </a:r>
          </a:p>
          <a:p>
            <a:pPr marL="803275" lvl="0" indent="-803275" defTabSz="914400">
              <a:defRPr/>
            </a:pPr>
            <a:r>
              <a:rPr lang="zh-CN" altLang="en-US" sz="3600" b="1" kern="0" dirty="0"/>
              <a:t>（</a:t>
            </a:r>
            <a:r>
              <a:rPr lang="en-US" altLang="zh-CN" sz="3600" b="1" kern="0" dirty="0"/>
              <a:t>2</a:t>
            </a:r>
            <a:r>
              <a:rPr lang="zh-CN" altLang="en-US" sz="3600" b="1" kern="0" dirty="0"/>
              <a:t>）完成习题  </a:t>
            </a:r>
            <a:r>
              <a:rPr lang="en-US" altLang="zh-CN" sz="3600" b="1" kern="0" dirty="0"/>
              <a:t>2-8</a:t>
            </a:r>
            <a:r>
              <a:rPr lang="zh-CN" altLang="en-US" sz="3600" b="1" kern="0" dirty="0"/>
              <a:t>、</a:t>
            </a:r>
            <a:r>
              <a:rPr lang="en-US" altLang="zh-CN" sz="3600" b="1" kern="0" dirty="0"/>
              <a:t>2-11</a:t>
            </a:r>
            <a:r>
              <a:rPr lang="zh-CN" altLang="en-US" sz="3600" b="1" kern="0" dirty="0"/>
              <a:t>、</a:t>
            </a:r>
            <a:r>
              <a:rPr lang="en-US" altLang="zh-CN" sz="3600" b="1" kern="0" dirty="0"/>
              <a:t>2-12</a:t>
            </a:r>
            <a:r>
              <a:rPr lang="zh-CN" altLang="en-US" sz="3600" b="1" kern="0" dirty="0"/>
              <a:t>、</a:t>
            </a:r>
            <a:r>
              <a:rPr lang="en-US" altLang="zh-CN" sz="3600" b="1" kern="0" dirty="0"/>
              <a:t>2-13</a:t>
            </a:r>
            <a:r>
              <a:rPr lang="zh-CN" altLang="en-US" sz="3600" b="1" kern="0" dirty="0"/>
              <a:t>、</a:t>
            </a:r>
            <a:r>
              <a:rPr lang="en-US" altLang="zh-CN" sz="3600" b="1" kern="0" dirty="0"/>
              <a:t>2-31</a:t>
            </a:r>
            <a:r>
              <a:rPr lang="zh-CN" altLang="en-US" sz="3600" b="1" kern="0" dirty="0"/>
              <a:t>，下周一上课时课代表收齐交给助教。</a:t>
            </a:r>
          </a:p>
          <a:p>
            <a:pPr marL="803275" lvl="0" indent="-803275" defTabSz="914400">
              <a:defRPr/>
            </a:pPr>
            <a:r>
              <a:rPr lang="zh-CN" altLang="en-US" sz="3600" b="1" kern="0" dirty="0"/>
              <a:t>（</a:t>
            </a:r>
            <a:r>
              <a:rPr lang="en-US" altLang="zh-CN" sz="3600" b="1" kern="0" dirty="0"/>
              <a:t>3</a:t>
            </a:r>
            <a:r>
              <a:rPr lang="zh-CN" altLang="en-US" sz="3600" b="1" kern="0" dirty="0"/>
              <a:t>）</a:t>
            </a:r>
            <a:r>
              <a:rPr lang="zh-CN" altLang="en-US" sz="3600" b="1" kern="0" dirty="0">
                <a:solidFill>
                  <a:srgbClr val="FF0000"/>
                </a:solidFill>
              </a:rPr>
              <a:t>预习</a:t>
            </a:r>
            <a:r>
              <a:rPr lang="zh-CN" altLang="en-US" sz="3600" b="1" kern="0" dirty="0"/>
              <a:t>后续章节。</a:t>
            </a:r>
            <a:endParaRPr lang="en-US" altLang="zh-CN" sz="3600" b="1" kern="0" dirty="0">
              <a:solidFill>
                <a:srgbClr val="FFFFFF"/>
              </a:solidFill>
              <a:ea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1000" y="5638800"/>
            <a:ext cx="8357235" cy="5835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提醒各研究小组积极推进大作业的工作进程！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B817-AC4E-F8D8-5AA4-05BF7FB6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EB839F-41A8-6B9F-1274-BF0509379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E41C68-0DDE-F7A2-B6ED-BCBC63E1EFA3}"/>
              </a:ext>
            </a:extLst>
          </p:cNvPr>
          <p:cNvSpPr/>
          <p:nvPr/>
        </p:nvSpPr>
        <p:spPr>
          <a:xfrm>
            <a:off x="30714" y="68310"/>
            <a:ext cx="8915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FF00"/>
                </a:solidFill>
              </a:rPr>
              <a:t>参加亚洲航空航天工程联合会议</a:t>
            </a:r>
            <a:r>
              <a:rPr lang="zh-CN" altLang="en-US" sz="3200" dirty="0">
                <a:solidFill>
                  <a:srgbClr val="FFFF00"/>
                </a:solidFill>
              </a:rPr>
              <a:t>（</a:t>
            </a:r>
            <a:r>
              <a:rPr lang="en-US" altLang="zh-CN" sz="3200" dirty="0">
                <a:solidFill>
                  <a:srgbClr val="FFFF00"/>
                </a:solidFill>
              </a:rPr>
              <a:t>AJSAE2026</a:t>
            </a:r>
            <a:r>
              <a:rPr lang="zh-CN" altLang="en-US" sz="3200" dirty="0">
                <a:solidFill>
                  <a:srgbClr val="FFFF00"/>
                </a:solidFill>
              </a:rPr>
              <a:t>）</a:t>
            </a:r>
            <a:r>
              <a:rPr lang="en-US" altLang="zh-CN" sz="3200" dirty="0">
                <a:solidFill>
                  <a:srgbClr val="FFFF00"/>
                </a:solidFill>
              </a:rPr>
              <a:t>, </a:t>
            </a:r>
            <a:r>
              <a:rPr lang="zh-CN" altLang="en-US" sz="3200" dirty="0">
                <a:solidFill>
                  <a:srgbClr val="FFFF00"/>
                </a:solidFill>
              </a:rPr>
              <a:t>韩国济州，</a:t>
            </a:r>
            <a:r>
              <a:rPr lang="en-US" altLang="zh-CN" sz="3200" dirty="0">
                <a:solidFill>
                  <a:srgbClr val="FFFF00"/>
                </a:solidFill>
              </a:rPr>
              <a:t>2026.9.15-9.19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0DEE9ACA-FB6A-0B23-DC12-0C5AD9997C9A}"/>
              </a:ext>
            </a:extLst>
          </p:cNvPr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6A67D7D-EE23-89FA-28A4-D6B8E62EF0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43" y="1200751"/>
            <a:ext cx="3699396" cy="27745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43E834C-A680-A7CE-C6DC-59316F8582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683" y="3716289"/>
            <a:ext cx="2305051" cy="30734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B680781-8F65-C6B9-1A2C-7258CBADC2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30517"/>
            <a:ext cx="3628440" cy="272133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95EE677-D1E9-B285-A259-C8A6C5044C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414" y="1219199"/>
            <a:ext cx="3664985" cy="244179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610F01F-952B-B02A-F424-E6CE480E8B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90506" y="4100464"/>
            <a:ext cx="3073399" cy="2305050"/>
          </a:xfrm>
          <a:prstGeom prst="rect">
            <a:avLst/>
          </a:prstGeom>
        </p:spPr>
      </p:pic>
      <p:sp>
        <p:nvSpPr>
          <p:cNvPr id="19" name="对话气泡: 椭圆形 18">
            <a:extLst>
              <a:ext uri="{FF2B5EF4-FFF2-40B4-BE49-F238E27FC236}">
                <a16:creationId xmlns:a16="http://schemas.microsoft.com/office/drawing/2014/main" id="{DF4376A9-ED94-741F-E7E4-FBB16C9E0C49}"/>
              </a:ext>
            </a:extLst>
          </p:cNvPr>
          <p:cNvSpPr/>
          <p:nvPr/>
        </p:nvSpPr>
        <p:spPr bwMode="auto">
          <a:xfrm>
            <a:off x="6273570" y="4648200"/>
            <a:ext cx="2794111" cy="1131688"/>
          </a:xfrm>
          <a:prstGeom prst="wedgeEllipseCallout">
            <a:avLst>
              <a:gd name="adj1" fmla="val -64779"/>
              <a:gd name="adj2" fmla="val 9659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Under development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35620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2.7</a:t>
            </a:r>
            <a:r>
              <a:rPr lang="zh-CN" altLang="en-US" sz="4000" dirty="0">
                <a:solidFill>
                  <a:srgbClr val="FFFF00"/>
                </a:solidFill>
              </a:rPr>
              <a:t>推力室性能参数的理想值与实际值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1771650" y="1447800"/>
            <a:ext cx="5600699" cy="510172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8518" rIns="0" bIns="0" rtlCol="0">
            <a:spAutoFit/>
          </a:bodyPr>
          <a:lstStyle/>
          <a:p>
            <a:pPr marR="50800" algn="ctr">
              <a:spcBef>
                <a:spcPts val="620"/>
              </a:spcBef>
            </a:pPr>
            <a:r>
              <a:rPr lang="zh-CN" altLang="en-US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火箭</a:t>
            </a:r>
            <a:r>
              <a:rPr sz="2800" spc="-4" dirty="0" err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发动机</a:t>
            </a:r>
            <a:r>
              <a:rPr sz="2800" spc="4" dirty="0" err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的</a:t>
            </a:r>
            <a:r>
              <a:rPr lang="zh-CN" altLang="en-US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试验场景</a:t>
            </a:r>
            <a:r>
              <a:rPr lang="en-US" altLang="zh-CN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(2016.8.2)</a:t>
            </a:r>
            <a:endParaRPr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pic>
        <p:nvPicPr>
          <p:cNvPr id="3" name="我国推力最大的分段式固体火箭发动机在西安成功试车（2016年08月02日） 00_00_08.60-00_00_20.80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9165" y="2209800"/>
            <a:ext cx="7266305" cy="4139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22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remove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BB7D-DE48-2416-8C63-034D7CC6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FF10CF3C-7704-9976-F631-A5C82A915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399"/>
            <a:ext cx="3124200" cy="609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n"/>
            </a:pPr>
            <a:r>
              <a:rPr lang="ru-RU" altLang="zh-CN" b="1" dirty="0"/>
              <a:t> </a:t>
            </a:r>
            <a:r>
              <a:rPr lang="zh-CN" altLang="en-US" b="1" dirty="0"/>
              <a:t>实际特征速度</a:t>
            </a:r>
            <a:endParaRPr lang="zh-CN" altLang="en-US" b="1" dirty="0"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562A75-C57C-74F0-FEBD-74E24F7ED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715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8138A3-E77F-46C4-BAAE-3D9F573C2C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/>
                <a:cs typeface="+mn-cs"/>
              </a:rPr>
              <a:pPr marL="0" marR="0" lvl="0" indent="0" algn="r" defTabSz="7156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CB4D98-4265-D8A7-E83C-562D6C9ACA30}"/>
              </a:ext>
            </a:extLst>
          </p:cNvPr>
          <p:cNvSpPr/>
          <p:nvPr/>
        </p:nvSpPr>
        <p:spPr>
          <a:xfrm>
            <a:off x="0" y="2286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2.7</a:t>
            </a:r>
            <a:r>
              <a:rPr lang="zh-CN" altLang="en-US" sz="4000" dirty="0">
                <a:solidFill>
                  <a:srgbClr val="FFFF00"/>
                </a:solidFill>
              </a:rPr>
              <a:t>推力室性能参数的理想值与实际值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745472B-240F-092F-74EC-B77AD3439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816E6A6-EBC2-1136-0111-0F1432C9D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526271"/>
              </p:ext>
            </p:extLst>
          </p:nvPr>
        </p:nvGraphicFramePr>
        <p:xfrm>
          <a:off x="609600" y="1958489"/>
          <a:ext cx="2259029" cy="969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444240" progId="Equation.DSMT4">
                  <p:embed/>
                </p:oleObj>
              </mc:Choice>
              <mc:Fallback>
                <p:oleObj name="Equation" r:id="rId2" imgW="100296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58489"/>
                        <a:ext cx="2259029" cy="969679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>
            <a:extLst>
              <a:ext uri="{FF2B5EF4-FFF2-40B4-BE49-F238E27FC236}">
                <a16:creationId xmlns:a16="http://schemas.microsoft.com/office/drawing/2014/main" id="{01F60B4F-5CCB-3492-D80A-8DCE31221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D3776C7-AF9B-1B4B-76C0-D4098C2AE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24200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Wingdings" panose="05000000000000000000" pitchFamily="2" charset="2"/>
              <a:buChar char="n"/>
            </a:pPr>
            <a:r>
              <a:rPr lang="ru-RU" altLang="zh-CN" b="1" kern="0" dirty="0"/>
              <a:t> </a:t>
            </a:r>
            <a:r>
              <a:rPr lang="zh-CN" altLang="en-US" b="1" kern="0" dirty="0"/>
              <a:t>实际推力系数</a:t>
            </a:r>
            <a:endParaRPr lang="zh-CN" altLang="en-US" b="1" kern="0" dirty="0">
              <a:cs typeface="Arial" panose="020B0604020202020204" pitchFamily="34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585173A-AD90-C761-3B25-1736538D5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965317"/>
              </p:ext>
            </p:extLst>
          </p:nvPr>
        </p:nvGraphicFramePr>
        <p:xfrm>
          <a:off x="609600" y="3858651"/>
          <a:ext cx="29749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634680" progId="Equation.DSMT4">
                  <p:embed/>
                </p:oleObj>
              </mc:Choice>
              <mc:Fallback>
                <p:oleObj name="Equation" r:id="rId4" imgW="1866600" imgH="634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58651"/>
                        <a:ext cx="2974975" cy="9906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">
            <a:extLst>
              <a:ext uri="{FF2B5EF4-FFF2-40B4-BE49-F238E27FC236}">
                <a16:creationId xmlns:a16="http://schemas.microsoft.com/office/drawing/2014/main" id="{96260139-EC83-DEDF-A434-3E497A045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167202"/>
            <a:ext cx="243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Wingdings" panose="05000000000000000000" pitchFamily="2" charset="2"/>
              <a:buChar char="n"/>
            </a:pPr>
            <a:r>
              <a:rPr lang="ru-RU" altLang="zh-CN" b="1" kern="0" dirty="0"/>
              <a:t> </a:t>
            </a:r>
            <a:r>
              <a:rPr lang="zh-CN" altLang="en-US" b="1" kern="0" dirty="0"/>
              <a:t>实际比冲</a:t>
            </a:r>
            <a:endParaRPr lang="zh-CN" altLang="en-US" b="1" kern="0" dirty="0">
              <a:cs typeface="Arial" panose="020B0604020202020204" pitchFamily="34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3F73823-D0E8-B5D8-E5FE-3E9ECD031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62566"/>
              </p:ext>
            </p:extLst>
          </p:nvPr>
        </p:nvGraphicFramePr>
        <p:xfrm>
          <a:off x="609600" y="5964703"/>
          <a:ext cx="2819400" cy="711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200" imgH="254000" progId="Equation.DSMT4">
                  <p:embed/>
                </p:oleObj>
              </mc:Choice>
              <mc:Fallback>
                <p:oleObj name="Equation" r:id="rId6" imgW="9652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964703"/>
                        <a:ext cx="2819400" cy="71183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">
            <a:extLst>
              <a:ext uri="{FF2B5EF4-FFF2-40B4-BE49-F238E27FC236}">
                <a16:creationId xmlns:a16="http://schemas.microsoft.com/office/drawing/2014/main" id="{2C9A5358-9243-2EA7-648C-CE8F1186D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309585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Wingdings" panose="05000000000000000000" pitchFamily="2" charset="2"/>
              <a:buChar char="n"/>
            </a:pPr>
            <a:r>
              <a:rPr lang="ru-RU" altLang="zh-CN" b="1" kern="0" dirty="0"/>
              <a:t> </a:t>
            </a:r>
            <a:r>
              <a:rPr lang="en-US" altLang="zh-CN" b="1" kern="0" dirty="0"/>
              <a:t> </a:t>
            </a:r>
            <a:r>
              <a:rPr lang="zh-CN" altLang="en-US" b="1" kern="0" dirty="0"/>
              <a:t>燃烧室效率</a:t>
            </a:r>
            <a:endParaRPr lang="zh-CN" altLang="en-US" b="1" kern="0" dirty="0">
              <a:cs typeface="Arial" panose="020B0604020202020204" pitchFamily="34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A03F683-102A-F311-9F3F-7D89411BA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454698"/>
              </p:ext>
            </p:extLst>
          </p:nvPr>
        </p:nvGraphicFramePr>
        <p:xfrm>
          <a:off x="6400800" y="1883204"/>
          <a:ext cx="1197842" cy="999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500" imgH="457200" progId="Equation.DSMT4">
                  <p:embed/>
                </p:oleObj>
              </mc:Choice>
              <mc:Fallback>
                <p:oleObj name="Equation" r:id="rId8" imgW="5715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883204"/>
                        <a:ext cx="1197842" cy="99985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">
            <a:extLst>
              <a:ext uri="{FF2B5EF4-FFF2-40B4-BE49-F238E27FC236}">
                <a16:creationId xmlns:a16="http://schemas.microsoft.com/office/drawing/2014/main" id="{36C250C1-27F0-B808-47FD-43C799DDF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088105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Wingdings" panose="05000000000000000000" pitchFamily="2" charset="2"/>
              <a:buChar char="n"/>
            </a:pPr>
            <a:r>
              <a:rPr lang="ru-RU" altLang="zh-CN" b="1" kern="0" dirty="0"/>
              <a:t> </a:t>
            </a:r>
            <a:r>
              <a:rPr lang="en-US" altLang="zh-CN" b="1" kern="0" dirty="0"/>
              <a:t> </a:t>
            </a:r>
            <a:r>
              <a:rPr lang="zh-CN" altLang="en-US" b="1" kern="0" dirty="0"/>
              <a:t>喷管效率</a:t>
            </a:r>
            <a:endParaRPr lang="zh-CN" altLang="en-US" b="1" kern="0" dirty="0">
              <a:cs typeface="Arial" panose="020B0604020202020204" pitchFamily="34" charset="0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7FF20587-2915-2987-F265-697B613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371069"/>
              </p:ext>
            </p:extLst>
          </p:nvPr>
        </p:nvGraphicFramePr>
        <p:xfrm>
          <a:off x="6324600" y="3841807"/>
          <a:ext cx="2187107" cy="90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68400" imgH="457200" progId="Equation.DSMT4">
                  <p:embed/>
                </p:oleObj>
              </mc:Choice>
              <mc:Fallback>
                <p:oleObj name="Equation" r:id="rId10" imgW="1168400" imgH="457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841807"/>
                        <a:ext cx="2187107" cy="90904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>
            <a:extLst>
              <a:ext uri="{FF2B5EF4-FFF2-40B4-BE49-F238E27FC236}">
                <a16:creationId xmlns:a16="http://schemas.microsoft.com/office/drawing/2014/main" id="{C3B273B2-C138-DBE8-CBE7-8BB2F68BA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91765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defTabSz="914400">
              <a:buFont typeface="Wingdings" panose="05000000000000000000" pitchFamily="2" charset="2"/>
              <a:buChar char="n"/>
            </a:pPr>
            <a:r>
              <a:rPr lang="ru-RU" altLang="zh-CN" b="1" kern="0" dirty="0"/>
              <a:t> </a:t>
            </a:r>
            <a:r>
              <a:rPr lang="en-US" altLang="zh-CN" b="1" kern="0" dirty="0"/>
              <a:t> </a:t>
            </a:r>
            <a:r>
              <a:rPr lang="zh-CN" altLang="en-US" b="1" kern="0" dirty="0"/>
              <a:t>比冲效率</a:t>
            </a:r>
            <a:endParaRPr lang="zh-CN" altLang="en-US" b="1" kern="0" dirty="0">
              <a:cs typeface="Arial" panose="020B0604020202020204" pitchFamily="34" charset="0"/>
            </a:endParaRPr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D0D7AEA2-3EAA-C09F-FD31-235215162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618409"/>
            <a:ext cx="936625" cy="480484"/>
          </a:xfrm>
          <a:prstGeom prst="rightArrow">
            <a:avLst>
              <a:gd name="adj1" fmla="val 50000"/>
              <a:gd name="adj2" fmla="val 64978"/>
            </a:avLst>
          </a:prstGeom>
          <a:solidFill>
            <a:srgbClr val="003399"/>
          </a:solidFill>
          <a:ln w="9525">
            <a:solidFill>
              <a:srgbClr val="FFFFFF"/>
            </a:solidFill>
            <a:miter lim="800000"/>
          </a:ln>
        </p:spPr>
        <p:txBody>
          <a:bodyPr wrap="none" anchor="ctr"/>
          <a:lstStyle>
            <a:lvl1pPr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F0E50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defTabSz="914400" eaLnBrk="1" hangingPunct="1">
              <a:defRPr/>
            </a:pPr>
            <a:endParaRPr lang="zh-CN" altLang="en-US" kern="0"/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0BCA6B45-6711-9367-93CB-4F743C4FE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F7B30FD1-028B-3615-CBD9-E26B27F3B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8191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447" imgH="241195" progId="Equation.DSMT4">
                  <p:embed/>
                </p:oleObj>
              </mc:Choice>
              <mc:Fallback>
                <p:oleObj name="Equation" r:id="rId12" imgW="812447" imgH="24119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19150" cy="24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6E90D87D-868A-5212-5828-674CCAE9C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33428"/>
              </p:ext>
            </p:extLst>
          </p:nvPr>
        </p:nvGraphicFramePr>
        <p:xfrm>
          <a:off x="6324600" y="5908208"/>
          <a:ext cx="2055898" cy="60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447" imgH="241195" progId="Equation.DSMT4">
                  <p:embed/>
                </p:oleObj>
              </mc:Choice>
              <mc:Fallback>
                <p:oleObj name="Equation" r:id="rId14" imgW="812447" imgH="24119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908208"/>
                        <a:ext cx="2055898" cy="609599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089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20" grpId="0"/>
      <p:bldP spid="23" grpId="0"/>
      <p:bldP spid="26" grpId="0"/>
      <p:bldP spid="29" grpId="0"/>
      <p:bldP spid="32" grpId="0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2.8 </a:t>
            </a:r>
            <a:r>
              <a:rPr lang="zh-CN" altLang="en-US" sz="4000" dirty="0">
                <a:solidFill>
                  <a:srgbClr val="FFFF00"/>
                </a:solidFill>
              </a:rPr>
              <a:t>发动机的主要参数</a:t>
            </a: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593215"/>
            <a:ext cx="2133600" cy="355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506" y="1654175"/>
            <a:ext cx="3326894" cy="4679831"/>
          </a:xfrm>
          <a:prstGeom prst="rect">
            <a:avLst/>
          </a:prstGeom>
        </p:spPr>
      </p:pic>
      <p:sp>
        <p:nvSpPr>
          <p:cNvPr id="16" name="object 2"/>
          <p:cNvSpPr txBox="1"/>
          <p:nvPr/>
        </p:nvSpPr>
        <p:spPr>
          <a:xfrm>
            <a:off x="6716843" y="5321759"/>
            <a:ext cx="2362200" cy="86550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8518" rIns="0" bIns="0" rtlCol="0">
            <a:spAutoFit/>
          </a:bodyPr>
          <a:lstStyle/>
          <a:p>
            <a:pPr marR="50800" algn="ctr">
              <a:spcBef>
                <a:spcPts val="620"/>
              </a:spcBef>
            </a:pPr>
            <a:r>
              <a:rPr lang="en-US" altLang="zh-CN" sz="2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YF-24</a:t>
            </a:r>
          </a:p>
          <a:p>
            <a:pPr marR="50800" algn="ctr">
              <a:spcBef>
                <a:spcPts val="620"/>
              </a:spcBef>
            </a:pPr>
            <a:r>
              <a:rPr lang="zh-CN" altLang="en-US" sz="1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</a:t>
            </a:r>
            <a:r>
              <a:rPr lang="en-US" altLang="zh-CN" sz="1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1X YF-22+ 4X YF-23</a:t>
            </a:r>
            <a:r>
              <a:rPr lang="zh-CN" altLang="en-US" sz="18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）</a:t>
            </a:r>
            <a:endParaRPr sz="16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17" name="object 2"/>
          <p:cNvSpPr txBox="1"/>
          <p:nvPr/>
        </p:nvSpPr>
        <p:spPr>
          <a:xfrm>
            <a:off x="3962400" y="6353860"/>
            <a:ext cx="2286000" cy="44704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8518" rIns="0" bIns="0" rtlCol="0">
            <a:spAutoFit/>
          </a:bodyPr>
          <a:lstStyle/>
          <a:p>
            <a:pPr marR="50800" algn="ctr">
              <a:spcBef>
                <a:spcPts val="620"/>
              </a:spcBef>
            </a:pPr>
            <a:r>
              <a:rPr lang="en-US" altLang="zh-CN" sz="2400" spc="4" dirty="0" err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Vulcain</a:t>
            </a:r>
            <a:r>
              <a:rPr lang="en-US" altLang="zh-CN" sz="24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(</a:t>
            </a:r>
            <a:r>
              <a:rPr lang="zh-CN" altLang="en-US" sz="24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火神</a:t>
            </a:r>
            <a:r>
              <a:rPr lang="en-US" altLang="zh-CN" sz="2400" spc="4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)</a:t>
            </a:r>
          </a:p>
        </p:txBody>
      </p:sp>
      <p:sp>
        <p:nvSpPr>
          <p:cNvPr id="18" name="文本框 4"/>
          <p:cNvSpPr txBox="1"/>
          <p:nvPr/>
        </p:nvSpPr>
        <p:spPr>
          <a:xfrm>
            <a:off x="76200" y="6477000"/>
            <a:ext cx="3126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rgbClr val="FFFFFF"/>
                </a:solidFill>
                <a:ea typeface="黑体" panose="02010609060101010101" pitchFamily="2" charset="-122"/>
              </a:rPr>
              <a:t>我国</a:t>
            </a:r>
            <a:r>
              <a:rPr lang="en-US" altLang="zh-CN" sz="1800" dirty="0">
                <a:solidFill>
                  <a:srgbClr val="FFFFFF"/>
                </a:solidFill>
                <a:ea typeface="黑体" panose="02010609060101010101" pitchFamily="2" charset="-122"/>
              </a:rPr>
              <a:t>500</a:t>
            </a:r>
            <a:r>
              <a:rPr lang="zh-CN" altLang="en-US" sz="1800" dirty="0">
                <a:solidFill>
                  <a:srgbClr val="FFFFFF"/>
                </a:solidFill>
                <a:ea typeface="黑体" panose="02010609060101010101" pitchFamily="2" charset="-122"/>
              </a:rPr>
              <a:t>吨级重型液体发动机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60" y="4108553"/>
            <a:ext cx="2939540" cy="2375666"/>
          </a:xfrm>
          <a:prstGeom prst="rect">
            <a:avLst/>
          </a:prstGeom>
        </p:spPr>
      </p:pic>
      <p:sp>
        <p:nvSpPr>
          <p:cNvPr id="20" name="文本框 4"/>
          <p:cNvSpPr txBox="1"/>
          <p:nvPr/>
        </p:nvSpPr>
        <p:spPr>
          <a:xfrm>
            <a:off x="84455" y="1219200"/>
            <a:ext cx="3492500" cy="39878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FFFFFF"/>
                </a:solidFill>
                <a:ea typeface="黑体" panose="02010609060101010101" pitchFamily="2" charset="-122"/>
              </a:rPr>
              <a:t>重点：推力室与发动机的区别</a:t>
            </a:r>
          </a:p>
        </p:txBody>
      </p:sp>
      <p:pic>
        <p:nvPicPr>
          <p:cNvPr id="8" name="图片 7" descr="与500吨级固发合影_20240701_1"/>
          <p:cNvPicPr>
            <a:picLocks noChangeAspect="1"/>
          </p:cNvPicPr>
          <p:nvPr/>
        </p:nvPicPr>
        <p:blipFill>
          <a:blip r:embed="rId5"/>
          <a:srcRect t="30000" b="21731"/>
          <a:stretch>
            <a:fillRect/>
          </a:stretch>
        </p:blipFill>
        <p:spPr>
          <a:xfrm>
            <a:off x="143510" y="1676400"/>
            <a:ext cx="3058795" cy="1969770"/>
          </a:xfrm>
          <a:prstGeom prst="rect">
            <a:avLst/>
          </a:prstGeom>
        </p:spPr>
      </p:pic>
      <p:sp>
        <p:nvSpPr>
          <p:cNvPr id="3" name="文本框 4"/>
          <p:cNvSpPr txBox="1"/>
          <p:nvPr/>
        </p:nvSpPr>
        <p:spPr>
          <a:xfrm>
            <a:off x="304800" y="3679190"/>
            <a:ext cx="2721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rgbClr val="FFFFFF"/>
                </a:solidFill>
                <a:ea typeface="黑体" panose="02010609060101010101" pitchFamily="2" charset="-122"/>
              </a:rPr>
              <a:t>我国</a:t>
            </a:r>
            <a:r>
              <a:rPr lang="en-US" altLang="zh-CN" sz="1800" dirty="0">
                <a:solidFill>
                  <a:srgbClr val="FFFFFF"/>
                </a:solidFill>
                <a:ea typeface="黑体" panose="02010609060101010101" pitchFamily="2" charset="-122"/>
              </a:rPr>
              <a:t>500</a:t>
            </a:r>
            <a:r>
              <a:rPr lang="zh-CN" altLang="en-US" sz="1800" dirty="0">
                <a:solidFill>
                  <a:srgbClr val="FFFFFF"/>
                </a:solidFill>
                <a:ea typeface="黑体" panose="02010609060101010101" pitchFamily="2" charset="-122"/>
              </a:rPr>
              <a:t>吨级固体发动机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9A1C889D-0B89-C689-A323-354E560C8EA5}"/>
              </a:ext>
            </a:extLst>
          </p:cNvPr>
          <p:cNvSpPr/>
          <p:nvPr/>
        </p:nvSpPr>
        <p:spPr bwMode="auto">
          <a:xfrm>
            <a:off x="5029201" y="202513"/>
            <a:ext cx="4114799" cy="2033373"/>
          </a:xfrm>
          <a:prstGeom prst="cloudCallout">
            <a:avLst>
              <a:gd name="adj1" fmla="val -14666"/>
              <a:gd name="adj2" fmla="val -3802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做大作业的过程中，提醒大家对查阅到的数据一定要甄别清楚，是推力室的参数还是发动机的参数，否则就一错错到底了！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rgbClr val="0000CC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FF00"/>
                </a:solidFill>
              </a:rPr>
              <a:t>2.8 </a:t>
            </a:r>
            <a:r>
              <a:rPr lang="zh-CN" altLang="en-US" sz="4000" dirty="0">
                <a:solidFill>
                  <a:srgbClr val="FFFF00"/>
                </a:solidFill>
              </a:rPr>
              <a:t>发动机的主要参数</a:t>
            </a:r>
            <a:r>
              <a:rPr lang="en-US" altLang="zh-CN" sz="4000" b="1" dirty="0">
                <a:solidFill>
                  <a:srgbClr val="21FF36"/>
                </a:solidFill>
              </a:rPr>
              <a:t>/</a:t>
            </a:r>
            <a:r>
              <a:rPr lang="zh-CN" altLang="en-US" sz="2400" b="1" dirty="0">
                <a:solidFill>
                  <a:srgbClr val="21FF36"/>
                </a:solidFill>
              </a:rPr>
              <a:t>各国液氧</a:t>
            </a:r>
            <a:r>
              <a:rPr lang="en-US" altLang="zh-CN" sz="2400" b="1" dirty="0">
                <a:solidFill>
                  <a:srgbClr val="21FF36"/>
                </a:solidFill>
              </a:rPr>
              <a:t>-</a:t>
            </a:r>
            <a:r>
              <a:rPr lang="zh-CN" altLang="en-US" sz="2400" b="1" dirty="0">
                <a:solidFill>
                  <a:srgbClr val="21FF36"/>
                </a:solidFill>
              </a:rPr>
              <a:t>液氢发动机之比较</a:t>
            </a:r>
            <a:endParaRPr lang="zh-CN" altLang="en-US" sz="1800" b="1" dirty="0">
              <a:solidFill>
                <a:srgbClr val="21FF36"/>
              </a:solidFill>
            </a:endParaRPr>
          </a:p>
          <a:p>
            <a:endParaRPr lang="zh-CN" altLang="en-US" sz="4000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58580" y="1320800"/>
          <a:ext cx="8656820" cy="53086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发动机名称，循环，国别，公司（鉴定年份）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飞行器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真空推力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</a:rPr>
                        <a:t>kN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真空比冲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/m/s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燃烧室压强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/bar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混合比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喷管面积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扩张比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发动机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干质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/kg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SSME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，分级燃烧，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美国，洛克达因公司（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1998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航天飞机</a:t>
                      </a: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三机并联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2183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4438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196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68.8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3400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RS-68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，燃气发生器，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美国，洛克达因（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2000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德尔它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3313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4070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97.2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21.5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6800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LE-5A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，膨胀，日本，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MH1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1991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H</a:t>
                      </a: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Ⅱ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121.5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4433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37.2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130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255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LE-7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，分级燃烧，日本，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MH1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1991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H</a:t>
                      </a: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Ⅱ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1080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4370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122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1720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</a:rPr>
                        <a:t>Vulcain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，燃气发生器，法国，（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1984-1996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研制）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阿里安</a:t>
                      </a: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1120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4246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112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5.35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1585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HM7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，燃气发生器，法国，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洲动力装置（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1973-1983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研制）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阿里安</a:t>
                      </a: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62.7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4356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36.2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5.1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155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RL-10-A3-3A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，膨胀，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美国，普惠（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1965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各种</a:t>
                      </a: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上面级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73.4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4358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32.75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61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132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RL-10-B2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，膨胀，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美国，普惠（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1998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－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110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4575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44.12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6.0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375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275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YF-73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，燃气发生器，中国，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航天总公司（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1976-1986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研制）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长征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44.43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4119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26.3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5.0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</a:rPr>
                        <a:t>245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76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YF-75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，燃气发生器，中国，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航天总公司（</a:t>
                      </a: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1986-1994</a:t>
                      </a:r>
                      <a:r>
                        <a:rPr lang="zh-CN" sz="1200" b="1" kern="100" dirty="0">
                          <a:solidFill>
                            <a:schemeClr val="bg1"/>
                          </a:solidFill>
                          <a:effectLst/>
                        </a:rPr>
                        <a:t>研制）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长征</a:t>
                      </a: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200" b="1" kern="100">
                          <a:solidFill>
                            <a:schemeClr val="bg1"/>
                          </a:solidFill>
                          <a:effectLst/>
                        </a:rPr>
                        <a:t>双机并联</a:t>
                      </a:r>
                      <a:endParaRPr lang="zh-CN" sz="1200" b="1" kern="10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78.45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4312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36.7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5.0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611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38569" marR="38569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FFFF00"/>
                </a:solidFill>
              </a:rPr>
              <a:t>2.9 </a:t>
            </a:r>
            <a:r>
              <a:rPr lang="zh-CN" altLang="en-US" sz="3000" b="1" dirty="0">
                <a:solidFill>
                  <a:srgbClr val="FFFF00"/>
                </a:solidFill>
              </a:rPr>
              <a:t>航天飞行任务分析及其对火箭发动机性能的要求</a:t>
            </a:r>
            <a:endParaRPr lang="zh-CN" altLang="en-US" sz="3000" b="1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2492" y="1165804"/>
            <a:ext cx="8305800" cy="448617"/>
          </a:xfrm>
          <a:prstGeom prst="rect">
            <a:avLst/>
          </a:prstGeom>
        </p:spPr>
        <p:txBody>
          <a:bodyPr vert="horz" wrap="square" lIns="0" tIns="78518" rIns="0" bIns="0" rtlCol="0">
            <a:spAutoFit/>
          </a:bodyPr>
          <a:lstStyle/>
          <a:p>
            <a:pPr marL="342900" marR="50800" indent="-342900">
              <a:spcBef>
                <a:spcPts val="62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火箭发射卫星的问题</a:t>
            </a:r>
            <a:endParaRPr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9796" y="2059889"/>
            <a:ext cx="1454955" cy="4762506"/>
            <a:chOff x="146389" y="2059887"/>
            <a:chExt cx="1939940" cy="4762505"/>
          </a:xfrm>
        </p:grpSpPr>
        <p:sp>
          <p:nvSpPr>
            <p:cNvPr id="11" name="矩形 10"/>
            <p:cNvSpPr/>
            <p:nvPr/>
          </p:nvSpPr>
          <p:spPr>
            <a:xfrm>
              <a:off x="146389" y="5806729"/>
              <a:ext cx="19399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东风一号地地导弹（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1960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）</a:t>
              </a:r>
            </a:p>
          </p:txBody>
        </p:sp>
        <p:pic>
          <p:nvPicPr>
            <p:cNvPr id="12" name="Picture 4" descr="20091031142018bf07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37" t="2373" r="36409" b="11012"/>
            <a:stretch>
              <a:fillRect/>
            </a:stretch>
          </p:blipFill>
          <p:spPr bwMode="auto">
            <a:xfrm>
              <a:off x="349953" y="2059887"/>
              <a:ext cx="1307396" cy="3746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矩形 12"/>
          <p:cNvSpPr/>
          <p:nvPr/>
        </p:nvSpPr>
        <p:spPr>
          <a:xfrm>
            <a:off x="1449673" y="2007579"/>
            <a:ext cx="467966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DF-1 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基本参数：</a:t>
            </a:r>
            <a:endParaRPr kumimoji="0" lang="en-US" altLang="zh-CN" sz="23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长度：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17.68m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，直径：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1.65m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射程：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600km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，弹重：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20.5t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战斗部：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1300kg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的常规高爆炸药动力装置：单级液体火箭发动机</a:t>
            </a:r>
            <a:endParaRPr kumimoji="0" lang="en-US" altLang="zh-CN" sz="23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推进剂：液氧</a:t>
            </a:r>
            <a:r>
              <a:rPr kumimoji="0" lang="en-US" altLang="zh-CN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-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酒精推进剂</a:t>
            </a:r>
            <a:endParaRPr kumimoji="0" lang="en-US" altLang="zh-CN" sz="23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4" name="云形标注 13"/>
          <p:cNvSpPr/>
          <p:nvPr/>
        </p:nvSpPr>
        <p:spPr>
          <a:xfrm>
            <a:off x="1507595" y="4254359"/>
            <a:ext cx="4798260" cy="1814872"/>
          </a:xfrm>
          <a:prstGeom prst="cloudCallout">
            <a:avLst>
              <a:gd name="adj1" fmla="val 54642"/>
              <a:gd name="adj2" fmla="val -69003"/>
            </a:avLst>
          </a:prstGeom>
          <a:solidFill>
            <a:srgbClr val="FFFF00"/>
          </a:solidFill>
          <a:ln w="25400" cap="flat" cmpd="sng" algn="ctr">
            <a:solidFill>
              <a:srgbClr val="FF388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幼圆" panose="02010509060101010101" charset="-122"/>
                <a:cs typeface="+mn-cs"/>
              </a:rPr>
              <a:t>问题：我们知道卫星近地轨道高度约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幼圆" panose="02010509060101010101" charset="-122"/>
                <a:cs typeface="+mn-cs"/>
              </a:rPr>
              <a:t>200-300km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幼圆" panose="02010509060101010101" charset="-122"/>
                <a:cs typeface="+mn-cs"/>
              </a:rPr>
              <a:t>，那么理论上能否把东风一号导弹直接改成运载火箭来发射卫星呢？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406809" y="2067436"/>
            <a:ext cx="7551454" cy="4659929"/>
            <a:chOff x="1894410" y="2067435"/>
            <a:chExt cx="6780333" cy="465992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9352" y="2067435"/>
              <a:ext cx="2065391" cy="4246702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6609352" y="6327252"/>
              <a:ext cx="169336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单级火箭简图</a:t>
              </a:r>
            </a:p>
          </p:txBody>
        </p:sp>
        <p:sp>
          <p:nvSpPr>
            <p:cNvPr id="18" name="右箭头 17"/>
            <p:cNvSpPr/>
            <p:nvPr/>
          </p:nvSpPr>
          <p:spPr>
            <a:xfrm>
              <a:off x="1894410" y="6069231"/>
              <a:ext cx="4573825" cy="308223"/>
            </a:xfrm>
            <a:prstGeom prst="rightArrow">
              <a:avLst/>
            </a:prstGeom>
            <a:solidFill>
              <a:srgbClr val="005BD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幼圆" panose="02010509060101010101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946367" y="1277604"/>
            <a:ext cx="5740185" cy="5355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从东风一号弹道导弹到长征一号运载火箭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792" y="1083154"/>
            <a:ext cx="1019936" cy="924425"/>
          </a:xfrm>
          <a:prstGeom prst="rect">
            <a:avLst/>
          </a:prstGeom>
        </p:spPr>
      </p:pic>
      <p:cxnSp>
        <p:nvCxnSpPr>
          <p:cNvPr id="30" name="直接连接符 29"/>
          <p:cNvCxnSpPr/>
          <p:nvPr/>
        </p:nvCxnSpPr>
        <p:spPr>
          <a:xfrm>
            <a:off x="392245" y="971984"/>
            <a:ext cx="2890195" cy="1"/>
          </a:xfrm>
          <a:prstGeom prst="line">
            <a:avLst/>
          </a:prstGeom>
          <a:ln>
            <a:solidFill>
              <a:srgbClr val="153B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7010" y="2059889"/>
            <a:ext cx="1870297" cy="4601234"/>
            <a:chOff x="142316" y="2059887"/>
            <a:chExt cx="1852900" cy="4601232"/>
          </a:xfrm>
        </p:grpSpPr>
        <p:sp>
          <p:nvSpPr>
            <p:cNvPr id="18" name="矩形 17"/>
            <p:cNvSpPr/>
            <p:nvPr/>
          </p:nvSpPr>
          <p:spPr>
            <a:xfrm>
              <a:off x="142316" y="5953233"/>
              <a:ext cx="18529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/>
              <a:r>
                <a:rPr lang="zh-CN" altLang="en-US" sz="2000" b="1" dirty="0">
                  <a:solidFill>
                    <a:srgbClr val="C00000"/>
                  </a:solidFill>
                </a:rPr>
                <a:t>东风一号地地</a:t>
              </a:r>
              <a:endParaRPr lang="en-US" altLang="zh-CN" sz="2000" b="1" dirty="0">
                <a:solidFill>
                  <a:srgbClr val="C00000"/>
                </a:solidFill>
              </a:endParaRPr>
            </a:p>
            <a:p>
              <a:pPr defTabSz="914400"/>
              <a:r>
                <a:rPr lang="zh-CN" altLang="en-US" sz="2000" b="1" dirty="0">
                  <a:solidFill>
                    <a:srgbClr val="C00000"/>
                  </a:solidFill>
                </a:rPr>
                <a:t>导弹（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1960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）</a:t>
              </a:r>
            </a:p>
          </p:txBody>
        </p:sp>
        <p:pic>
          <p:nvPicPr>
            <p:cNvPr id="22" name="Picture 4" descr="20091031142018bf07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37" t="2373" r="36409" b="11012"/>
            <a:stretch>
              <a:fillRect/>
            </a:stretch>
          </p:blipFill>
          <p:spPr bwMode="auto">
            <a:xfrm>
              <a:off x="349954" y="2059887"/>
              <a:ext cx="836310" cy="3746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4"/>
          <p:cNvGrpSpPr/>
          <p:nvPr/>
        </p:nvGrpSpPr>
        <p:grpSpPr>
          <a:xfrm>
            <a:off x="1129729" y="2091389"/>
            <a:ext cx="4713860" cy="4446625"/>
            <a:chOff x="1535672" y="2091385"/>
            <a:chExt cx="5595095" cy="4446625"/>
          </a:xfrm>
        </p:grpSpPr>
        <p:sp>
          <p:nvSpPr>
            <p:cNvPr id="21" name="矩形 20"/>
            <p:cNvSpPr/>
            <p:nvPr/>
          </p:nvSpPr>
          <p:spPr>
            <a:xfrm>
              <a:off x="2470483" y="6076345"/>
              <a:ext cx="457549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/>
              <a:r>
                <a:rPr lang="zh-CN" altLang="en-US" sz="2400" b="1" dirty="0">
                  <a:solidFill>
                    <a:srgbClr val="C00000"/>
                  </a:solidFill>
                </a:rPr>
                <a:t>长征一号运载火箭（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1970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）</a:t>
              </a: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1798" y="2091385"/>
              <a:ext cx="4858969" cy="3908362"/>
            </a:xfrm>
            <a:prstGeom prst="rect">
              <a:avLst/>
            </a:prstGeom>
          </p:spPr>
        </p:pic>
        <p:sp>
          <p:nvSpPr>
            <p:cNvPr id="23" name="右箭头 22"/>
            <p:cNvSpPr/>
            <p:nvPr/>
          </p:nvSpPr>
          <p:spPr>
            <a:xfrm>
              <a:off x="1535672" y="3779652"/>
              <a:ext cx="728201" cy="411480"/>
            </a:xfrm>
            <a:prstGeom prst="right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5943604" y="2097984"/>
            <a:ext cx="3057525" cy="2862322"/>
          </a:xfrm>
          <a:prstGeom prst="rect">
            <a:avLst/>
          </a:prstGeom>
          <a:solidFill>
            <a:schemeClr val="tx1"/>
          </a:solidFill>
          <a:ln w="254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 defTabSz="914400"/>
            <a:r>
              <a:rPr lang="zh-CN" altLang="en-US" sz="2000" b="1" dirty="0">
                <a:solidFill>
                  <a:prstClr val="black"/>
                </a:solidFill>
              </a:rPr>
              <a:t>长征一号是三级运载火箭，全长</a:t>
            </a:r>
            <a:r>
              <a:rPr lang="en-US" altLang="zh-CN" sz="2000" b="1" dirty="0">
                <a:solidFill>
                  <a:prstClr val="black"/>
                </a:solidFill>
              </a:rPr>
              <a:t>29.46m</a:t>
            </a:r>
            <a:r>
              <a:rPr lang="zh-CN" altLang="en-US" sz="2000" b="1" dirty="0">
                <a:solidFill>
                  <a:prstClr val="black"/>
                </a:solidFill>
              </a:rPr>
              <a:t>，最大直径</a:t>
            </a:r>
            <a:r>
              <a:rPr lang="en-US" altLang="zh-CN" sz="2000" b="1" dirty="0">
                <a:solidFill>
                  <a:prstClr val="black"/>
                </a:solidFill>
              </a:rPr>
              <a:t>2.25m</a:t>
            </a:r>
            <a:r>
              <a:rPr lang="zh-CN" altLang="en-US" sz="2000" b="1" dirty="0">
                <a:solidFill>
                  <a:prstClr val="black"/>
                </a:solidFill>
              </a:rPr>
              <a:t>，起飞质量</a:t>
            </a:r>
            <a:r>
              <a:rPr lang="en-US" altLang="zh-CN" sz="2000" b="1" dirty="0">
                <a:solidFill>
                  <a:prstClr val="black"/>
                </a:solidFill>
              </a:rPr>
              <a:t>81.5t</a:t>
            </a:r>
            <a:r>
              <a:rPr lang="zh-CN" altLang="en-US" sz="2000" b="1" dirty="0">
                <a:solidFill>
                  <a:prstClr val="black"/>
                </a:solidFill>
              </a:rPr>
              <a:t>，近地轨道运载能力为</a:t>
            </a:r>
            <a:r>
              <a:rPr lang="en-US" altLang="zh-CN" sz="2000" b="1" dirty="0">
                <a:solidFill>
                  <a:prstClr val="black"/>
                </a:solidFill>
              </a:rPr>
              <a:t>300kg</a:t>
            </a:r>
            <a:r>
              <a:rPr lang="zh-CN" altLang="en-US" sz="2000" b="1" dirty="0">
                <a:solidFill>
                  <a:prstClr val="black"/>
                </a:solidFill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</a:rPr>
              <a:t>440km</a:t>
            </a:r>
            <a:r>
              <a:rPr lang="zh-CN" altLang="en-US" sz="2000" b="1" dirty="0">
                <a:solidFill>
                  <a:prstClr val="black"/>
                </a:solidFill>
              </a:rPr>
              <a:t>圆轨道）。</a:t>
            </a:r>
            <a:r>
              <a:rPr lang="en-US" altLang="zh-CN" sz="2000" b="1" dirty="0">
                <a:solidFill>
                  <a:prstClr val="black"/>
                </a:solidFill>
              </a:rPr>
              <a:t> 1970</a:t>
            </a:r>
            <a:r>
              <a:rPr lang="zh-CN" altLang="en-US" sz="2000" b="1" dirty="0">
                <a:solidFill>
                  <a:prstClr val="black"/>
                </a:solidFill>
              </a:rPr>
              <a:t>年</a:t>
            </a:r>
            <a:r>
              <a:rPr lang="en-US" altLang="zh-CN" sz="2000" b="1" dirty="0">
                <a:solidFill>
                  <a:prstClr val="black"/>
                </a:solidFill>
              </a:rPr>
              <a:t>4</a:t>
            </a:r>
            <a:r>
              <a:rPr lang="zh-CN" altLang="en-US" sz="2000" b="1" dirty="0">
                <a:solidFill>
                  <a:prstClr val="black"/>
                </a:solidFill>
              </a:rPr>
              <a:t>月</a:t>
            </a:r>
            <a:r>
              <a:rPr lang="en-US" altLang="zh-CN" sz="2000" b="1" dirty="0">
                <a:solidFill>
                  <a:prstClr val="black"/>
                </a:solidFill>
              </a:rPr>
              <a:t>24</a:t>
            </a:r>
            <a:r>
              <a:rPr lang="zh-CN" altLang="en-US" sz="2000" b="1" dirty="0">
                <a:solidFill>
                  <a:prstClr val="black"/>
                </a:solidFill>
              </a:rPr>
              <a:t>日，首次将中国第一颗人造地球卫星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东方红一号成功送入了太空。</a:t>
            </a:r>
            <a:endParaRPr lang="en-US" altLang="zh-CN" sz="2000" b="1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15024" y="5014561"/>
            <a:ext cx="3186112" cy="181588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FFFF00"/>
                </a:solidFill>
              </a:rPr>
              <a:t>长征一号运载火箭的成功发射正式揭开了我国航天发射活动的序幕！</a:t>
            </a:r>
          </a:p>
        </p:txBody>
      </p:sp>
      <p:sp>
        <p:nvSpPr>
          <p:cNvPr id="19" name="矩形 18"/>
          <p:cNvSpPr/>
          <p:nvPr/>
        </p:nvSpPr>
        <p:spPr>
          <a:xfrm>
            <a:off x="0" y="28271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</a:rPr>
              <a:t>2.9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</a:rPr>
              <a:t>航天飞行任务分析及其对火箭发动机性能的要求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FFFF00"/>
                </a:solidFill>
              </a:rPr>
              <a:t>2.9 </a:t>
            </a:r>
            <a:r>
              <a:rPr lang="zh-CN" altLang="en-US" sz="3000" b="1" dirty="0">
                <a:solidFill>
                  <a:srgbClr val="FFFF00"/>
                </a:solidFill>
              </a:rPr>
              <a:t>航天飞行任务分析及其对火箭发动机性能的要求</a:t>
            </a:r>
            <a:endParaRPr lang="zh-CN" altLang="en-US" sz="3000" b="1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2492" y="1165804"/>
            <a:ext cx="8305800" cy="448617"/>
          </a:xfrm>
          <a:prstGeom prst="rect">
            <a:avLst/>
          </a:prstGeom>
        </p:spPr>
        <p:txBody>
          <a:bodyPr vert="horz" wrap="square" lIns="0" tIns="78518" rIns="0" bIns="0" rtlCol="0">
            <a:spAutoFit/>
          </a:bodyPr>
          <a:lstStyle/>
          <a:p>
            <a:pPr marL="342900" marR="50800" indent="-342900">
              <a:spcBef>
                <a:spcPts val="62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单级火箭末速度与发动机比冲和推进剂质量分数的关系</a:t>
            </a:r>
            <a:endParaRPr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pic>
        <p:nvPicPr>
          <p:cNvPr id="7" name="Picture 26" descr="dv_m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4020405" cy="479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v_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871194"/>
            <a:ext cx="4114800" cy="475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FFFF00"/>
                </a:solidFill>
              </a:rPr>
              <a:t>2.9 </a:t>
            </a:r>
            <a:r>
              <a:rPr lang="zh-CN" altLang="en-US" sz="3000" b="1" dirty="0">
                <a:solidFill>
                  <a:srgbClr val="FFFF00"/>
                </a:solidFill>
              </a:rPr>
              <a:t>航天飞行任务分析及其对火箭发动机性能的要求</a:t>
            </a:r>
            <a:endParaRPr lang="zh-CN" altLang="en-US" sz="3000" b="1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2492" y="1165804"/>
            <a:ext cx="8305800" cy="448617"/>
          </a:xfrm>
          <a:prstGeom prst="rect">
            <a:avLst/>
          </a:prstGeom>
        </p:spPr>
        <p:txBody>
          <a:bodyPr vert="horz" wrap="square" lIns="0" tIns="78518" rIns="0" bIns="0" rtlCol="0">
            <a:spAutoFit/>
          </a:bodyPr>
          <a:lstStyle/>
          <a:p>
            <a:pPr marL="342900" marR="50800" indent="-342900">
              <a:spcBef>
                <a:spcPts val="62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多级火箭举例</a:t>
            </a:r>
            <a:endParaRPr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799"/>
            <a:ext cx="8458200" cy="47022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30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8271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FFFF00"/>
                </a:solidFill>
              </a:rPr>
              <a:t>2.9 </a:t>
            </a:r>
            <a:r>
              <a:rPr lang="zh-CN" altLang="en-US" sz="3000" b="1" dirty="0">
                <a:solidFill>
                  <a:srgbClr val="FFFF00"/>
                </a:solidFill>
              </a:rPr>
              <a:t>航天飞行任务分析及其对火箭发动机性能的要求</a:t>
            </a:r>
            <a:endParaRPr lang="zh-CN" altLang="en-US" sz="3000" b="1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2492" y="1165804"/>
            <a:ext cx="8305800" cy="448617"/>
          </a:xfrm>
          <a:prstGeom prst="rect">
            <a:avLst/>
          </a:prstGeom>
        </p:spPr>
        <p:txBody>
          <a:bodyPr vert="horz" wrap="square" lIns="0" tIns="78518" rIns="0" bIns="0" rtlCol="0">
            <a:spAutoFit/>
          </a:bodyPr>
          <a:lstStyle/>
          <a:p>
            <a:pPr marL="342900" marR="50800" indent="-342900">
              <a:spcBef>
                <a:spcPts val="62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航天飞机</a:t>
            </a:r>
            <a:endParaRPr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pic>
        <p:nvPicPr>
          <p:cNvPr id="7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4546" r="15917" b="18479"/>
          <a:stretch>
            <a:fillRect/>
          </a:stretch>
        </p:blipFill>
        <p:spPr bwMode="auto">
          <a:xfrm>
            <a:off x="1711842" y="2362200"/>
            <a:ext cx="5756264" cy="4317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云形标注 7"/>
          <p:cNvSpPr/>
          <p:nvPr/>
        </p:nvSpPr>
        <p:spPr>
          <a:xfrm>
            <a:off x="4602466" y="2133600"/>
            <a:ext cx="4267200" cy="1422400"/>
          </a:xfrm>
          <a:prstGeom prst="cloudCallout">
            <a:avLst>
              <a:gd name="adj1" fmla="val -116860"/>
              <a:gd name="adj2" fmla="val -92435"/>
            </a:avLst>
          </a:prstGeom>
          <a:solidFill>
            <a:srgbClr val="333399">
              <a:lumMod val="20000"/>
              <a:lumOff val="80000"/>
            </a:srgbClr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怎么看待航天飞机的发射模式？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8138A3-E77F-46C4-BAAE-3D9F573C2C15}" type="slidenum">
              <a:rPr lang="en-US" altLang="zh-CN" smtClean="0">
                <a:solidFill>
                  <a:srgbClr val="FFFFFF"/>
                </a:solidFill>
              </a:rPr>
              <a:t>31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949" y="269528"/>
            <a:ext cx="899148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dirty="0">
                <a:solidFill>
                  <a:srgbClr val="FFFF00"/>
                </a:solidFill>
              </a:rPr>
              <a:t>2.9 </a:t>
            </a:r>
            <a:r>
              <a:rPr lang="zh-CN" altLang="en-US" sz="3000" b="1" dirty="0">
                <a:solidFill>
                  <a:srgbClr val="FFFF00"/>
                </a:solidFill>
              </a:rPr>
              <a:t>航天飞行任务分析及其对火箭发动机性能的要求</a:t>
            </a:r>
            <a:endParaRPr lang="zh-CN" altLang="en-US" sz="3000" b="1" dirty="0">
              <a:solidFill>
                <a:srgbClr val="00B050"/>
              </a:solidFill>
            </a:endParaRPr>
          </a:p>
        </p:txBody>
      </p:sp>
      <p:sp>
        <p:nvSpPr>
          <p:cNvPr id="42" name="object 6"/>
          <p:cNvSpPr txBox="1"/>
          <p:nvPr/>
        </p:nvSpPr>
        <p:spPr>
          <a:xfrm>
            <a:off x="3625527" y="5144210"/>
            <a:ext cx="61472" cy="7109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160">
              <a:spcBef>
                <a:spcPts val="75"/>
              </a:spcBef>
            </a:pPr>
            <a:r>
              <a:rPr sz="400" i="1" spc="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40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2492" y="1165804"/>
            <a:ext cx="8979108" cy="510172"/>
          </a:xfrm>
          <a:prstGeom prst="rect">
            <a:avLst/>
          </a:prstGeom>
        </p:spPr>
        <p:txBody>
          <a:bodyPr vert="horz" wrap="square" lIns="0" tIns="78518" rIns="0" bIns="0" rtlCol="0">
            <a:spAutoFit/>
          </a:bodyPr>
          <a:lstStyle/>
          <a:p>
            <a:pPr marL="342900" marR="50800" indent="-342900">
              <a:spcBef>
                <a:spcPts val="62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关于火箭发射的在线课程（有兴趣的同学课外拓展学习）</a:t>
            </a:r>
            <a:endParaRPr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4" t="8504" r="3451" b="10759"/>
          <a:stretch>
            <a:fillRect/>
          </a:stretch>
        </p:blipFill>
        <p:spPr bwMode="auto">
          <a:xfrm>
            <a:off x="381000" y="2502178"/>
            <a:ext cx="8158623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381000" y="1810222"/>
            <a:ext cx="7552132" cy="646331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杨小远教授主持线上课程</a:t>
            </a:r>
            <a:r>
              <a:rPr lang="en-US" altLang="zh-CN" sz="1800" b="1" dirty="0">
                <a:solidFill>
                  <a:srgbClr val="FF0000"/>
                </a:solidFill>
              </a:rPr>
              <a:t>《</a:t>
            </a:r>
            <a:r>
              <a:rPr lang="zh-CN" altLang="en-US" sz="1800" b="1" dirty="0">
                <a:solidFill>
                  <a:srgbClr val="FF0000"/>
                </a:solidFill>
              </a:rPr>
              <a:t>应用数学分析</a:t>
            </a:r>
            <a:r>
              <a:rPr lang="en-US" altLang="zh-CN" sz="1800" b="1" dirty="0">
                <a:solidFill>
                  <a:srgbClr val="FF0000"/>
                </a:solidFill>
              </a:rPr>
              <a:t>》</a:t>
            </a:r>
            <a:r>
              <a:rPr lang="zh-CN" altLang="en-US" sz="1800" b="1" dirty="0">
                <a:solidFill>
                  <a:srgbClr val="FF0000"/>
                </a:solidFill>
              </a:rPr>
              <a:t>（爱课程网在线）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sz="1800" dirty="0">
                <a:solidFill>
                  <a:srgbClr val="FF0000"/>
                </a:solidFill>
              </a:rPr>
              <a:t>https://www.icourse163.org/course/BUAA-1205799845?tid=1475499470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57400" y="2895600"/>
            <a:ext cx="44438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CC"/>
                </a:solidFill>
                <a:latin typeface="+mj-ea"/>
                <a:ea typeface="+mj-ea"/>
              </a:rPr>
              <a:t>第十四模块 火箭发射中若干数学问题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5400" dirty="0">
                <a:solidFill>
                  <a:srgbClr val="FFFF00"/>
                </a:solidFill>
              </a:rPr>
              <a:t>小作业（</a:t>
            </a:r>
            <a:r>
              <a:rPr lang="en-US" altLang="zh-CN" sz="5400" dirty="0">
                <a:solidFill>
                  <a:srgbClr val="FFFF00"/>
                </a:solidFill>
              </a:rPr>
              <a:t>4</a:t>
            </a:r>
            <a:r>
              <a:rPr lang="zh-CN" altLang="en-US" sz="5400" dirty="0">
                <a:solidFill>
                  <a:srgbClr val="FFFF00"/>
                </a:solidFill>
              </a:rPr>
              <a:t>）</a:t>
            </a:r>
            <a:r>
              <a:rPr lang="ru-RU" altLang="zh-CN" sz="5400" dirty="0">
                <a:solidFill>
                  <a:srgbClr val="FFFF00"/>
                </a:solidFill>
              </a:rPr>
              <a:t>202</a:t>
            </a:r>
            <a:r>
              <a:rPr lang="en-US" altLang="zh-CN" sz="5400" dirty="0">
                <a:solidFill>
                  <a:srgbClr val="FFFF00"/>
                </a:solidFill>
              </a:rPr>
              <a:t>6</a:t>
            </a:r>
            <a:r>
              <a:rPr lang="ru-RU" altLang="zh-CN" sz="5400" dirty="0">
                <a:solidFill>
                  <a:srgbClr val="FFFF00"/>
                </a:solidFill>
              </a:rPr>
              <a:t>.</a:t>
            </a:r>
            <a:r>
              <a:rPr lang="en-US" altLang="zh-CN" sz="5400" dirty="0">
                <a:solidFill>
                  <a:srgbClr val="FFFF00"/>
                </a:solidFill>
              </a:rPr>
              <a:t>9</a:t>
            </a:r>
            <a:r>
              <a:rPr lang="ru-RU" altLang="zh-CN" sz="5400" dirty="0">
                <a:solidFill>
                  <a:srgbClr val="FFFF00"/>
                </a:solidFill>
              </a:rPr>
              <a:t>.</a:t>
            </a:r>
            <a:r>
              <a:rPr lang="en-US" altLang="zh-CN" sz="5400" dirty="0">
                <a:solidFill>
                  <a:srgbClr val="FFFF00"/>
                </a:solidFill>
              </a:rPr>
              <a:t>21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8898" y="1564481"/>
            <a:ext cx="8816857" cy="34163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803275" marR="0" lvl="0" indent="-8032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）阅读教材，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复习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已学内容。</a:t>
            </a:r>
          </a:p>
          <a:p>
            <a:pPr marL="803275" marR="0" lvl="0" indent="-8032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）完成习题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2-23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、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2-27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、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2-32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2-36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、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2-37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、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2-47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2-49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，下周一上课时课代表收齐交给助教。</a:t>
            </a:r>
          </a:p>
          <a:p>
            <a:pPr marL="803275" marR="0" lvl="0" indent="-8032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3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预习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后续章节。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（下次王伟宗老师上课）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1000" y="5638800"/>
            <a:ext cx="8357235" cy="5835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715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提醒各研究小组积极推进大作业的工作进程！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072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5MGQwNzZjYmM3OTE3ODRhMjlhMzFjNmU3MDg2ZDQifQ==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默认设计模板">
  <a:themeElements>
    <a:clrScheme name="默认设计模板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默认设计模板">
  <a:themeElements>
    <a:clrScheme name="默认设计模板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设计模板">
  <a:themeElements>
    <a:clrScheme name="默认设计模板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4800" b="0" i="0" u="none" strike="noStrike" cap="none" normalizeH="0" baseline="0" smtClean="0">
            <a:ln>
              <a:noFill/>
            </a:ln>
            <a:solidFill>
              <a:srgbClr val="F0E500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活力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活力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>
          <a:defRPr sz="2800" b="1" dirty="0" smtClean="0">
            <a:solidFill>
              <a:srgbClr val="FF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3142</Words>
  <Application>Microsoft Office PowerPoint</Application>
  <PresentationFormat>全屏显示(4:3)</PresentationFormat>
  <Paragraphs>304</Paragraphs>
  <Slides>32</Slides>
  <Notes>1</Notes>
  <HiddenSlides>0</HiddenSlides>
  <MMClips>4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黑体</vt:lpstr>
      <vt:lpstr>华文新魏</vt:lpstr>
      <vt:lpstr>隶书</vt:lpstr>
      <vt:lpstr>宋体</vt:lpstr>
      <vt:lpstr>微软雅黑</vt:lpstr>
      <vt:lpstr>Arial</vt:lpstr>
      <vt:lpstr>Calibri</vt:lpstr>
      <vt:lpstr>Century Gothic</vt:lpstr>
      <vt:lpstr>Times New Roman</vt:lpstr>
      <vt:lpstr>Verdana</vt:lpstr>
      <vt:lpstr>Wingdings</vt:lpstr>
      <vt:lpstr>Wingdings 2</vt:lpstr>
      <vt:lpstr>1_默认设计模板</vt:lpstr>
      <vt:lpstr>3_默认设计模板</vt:lpstr>
      <vt:lpstr>4_默认设计模板</vt:lpstr>
      <vt:lpstr>1_活力</vt:lpstr>
      <vt:lpstr>2_默认设计模板</vt:lpstr>
      <vt:lpstr>Equation.3</vt:lpstr>
      <vt:lpstr>Microsoft 公式 3.0</vt:lpstr>
      <vt:lpstr>Equation</vt:lpstr>
      <vt:lpstr>MathType 7.0 Equation</vt:lpstr>
      <vt:lpstr>火箭发动机原理  第2章推力室和发动机的 主要性能参数</vt:lpstr>
      <vt:lpstr>PowerPoint 演示文稿</vt:lpstr>
      <vt:lpstr>PowerPoint 演示文稿</vt:lpstr>
      <vt:lpstr>第2章 推力室和发动机的主要性能参数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小作业（2）2026.9.11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小作业（3）2026.9.14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小作业（4）2026.9.21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“火箭发动机原理”课程教学大纲</dc:title>
  <dc:creator>LGZ</dc:creator>
  <cp:lastModifiedBy>Guozhu Liang</cp:lastModifiedBy>
  <cp:revision>275</cp:revision>
  <dcterms:created xsi:type="dcterms:W3CDTF">2020-02-25T11:24:00Z</dcterms:created>
  <dcterms:modified xsi:type="dcterms:W3CDTF">2026-09-21T01:14:36Z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2020-02-29T08:00:00Z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2020-02-29T08:00:00Z</vt:filetime>
  </property>
  <property fmtid="{D5CDD505-2E9C-101B-9397-08002B2CF9AE}" pid="5" name="KSOProductBuildVer">
    <vt:lpwstr>2052-12.1.0.16929</vt:lpwstr>
  </property>
  <property fmtid="{D5CDD505-2E9C-101B-9397-08002B2CF9AE}" pid="6" name="ICV">
    <vt:lpwstr>2F99834892D640D88B20FAB0F0BA000F_12</vt:lpwstr>
  </property>
</Properties>
</file>